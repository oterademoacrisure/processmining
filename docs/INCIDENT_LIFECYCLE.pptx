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8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2F22D-9305-E7E3-4666-25E25CB1D2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EFC940-1CFC-B74A-ECFD-BF2DD1FCA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1CB8F-1C7B-F102-C1BE-25F0E761E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6CDE2-689E-40E6-B5FA-CAEBBEAB7C91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C3846-E844-E171-3E09-99BA7D598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55F6F-DD79-A0A4-638B-5404EBD5E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C7CA-5027-460E-A53D-928C45B41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571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56551-99B1-F97D-BD62-D06C95302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4E807-6DE3-5357-BAA9-271F28EDE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CAAE9-E740-A45D-BD3C-4B5AB1277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6CDE2-689E-40E6-B5FA-CAEBBEAB7C91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082F3-1C55-CF48-8404-C532C7FD4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BD0EC-7A8F-6376-A02A-BE823FEA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C7CA-5027-460E-A53D-928C45B41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90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E2ECA-0AD5-AC33-EB77-C53C0EA72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C72BC-1D4C-D807-DCDB-B442B49ED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E2C74-E1ED-6D65-7066-EC455D024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6CDE2-689E-40E6-B5FA-CAEBBEAB7C91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BC387-6965-5918-90C5-E52AEB7CE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28910-353C-A07C-088E-BF5192002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C7CA-5027-460E-A53D-928C45B41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761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3AF3F-CE88-29A9-3739-4E5DACAE6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89416-57E2-F42D-8748-FCFE21B4AB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7765A-EE70-0BA5-ED28-A4B71EA8D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F3EC4-2B3E-8B6F-C260-B4A224F18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6CDE2-689E-40E6-B5FA-CAEBBEAB7C91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DF3EB-1F49-3C08-B32A-C84717C6E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4A9B85-6DF3-FDEC-69D9-F6559852C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C7CA-5027-460E-A53D-928C45B41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203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B609A-9C89-A398-0043-B3F8032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E6139-7E2D-154D-0590-4E61B2283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282F5-D5B3-5CEB-2B3C-CC200B773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75A90A-A377-BF29-3C0A-21BB7BA9E5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BDEB14-2842-2678-48B2-594BCAEC9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133F63-BC46-9038-EC10-A5AEE37BF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6CDE2-689E-40E6-B5FA-CAEBBEAB7C91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18151E-DCAD-1B54-B628-1F96F9291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63BB3C-0FDF-B175-DD14-399A3113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C7CA-5027-460E-A53D-928C45B41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45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8FCCA-6321-C427-6658-85ACCC57D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FD3C28-9BD9-4241-ADF1-8D654CC60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6CDE2-689E-40E6-B5FA-CAEBBEAB7C91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4CE85B-78ED-9B81-2672-E99E2438D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503AD6-7526-878F-A4AE-DDD27DC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C7CA-5027-460E-A53D-928C45B41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045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B758CC-1DFA-E72C-9A5B-959870ACA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6CDE2-689E-40E6-B5FA-CAEBBEAB7C91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8CDC5D-6A34-9FE3-9785-7A8FBD106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D8D9E-71D3-25CA-0F01-964C0C7DE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C7CA-5027-460E-A53D-928C45B41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375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A1553-DC89-7F24-D282-D1A141480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BDB7E-99CB-2FCB-09BB-A27B409FB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947BF4-0E28-EC9E-6E45-CD92A55C0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1A9CB-8714-88DA-F8FE-6151D4BAE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6CDE2-689E-40E6-B5FA-CAEBBEAB7C91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00F38-7E13-EA9F-370B-DF4E7171E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E77A8-7C4E-4BED-6FBA-478A28022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C7CA-5027-460E-A53D-928C45B41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338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8AE55-32C1-A730-9DAA-3FD822631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9C184B-39B6-C248-A992-C9D15ACE6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8CC4C1-B237-7DA0-EA0F-EE170F9EC8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AC3EB-F8C5-C982-984B-76F84F560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6CDE2-689E-40E6-B5FA-CAEBBEAB7C91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EFD98-E3B1-C676-5DA3-DC85CAC57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84E50-E6D2-6269-1A10-D4C80EC3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C7CA-5027-460E-A53D-928C45B41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9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E3E9E-0057-9B7D-6F0D-5734DBD8F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99D320-AEF6-DB4D-30E2-40DBE72C2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5F315-F2B5-CEE6-A305-3935810E0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6CDE2-689E-40E6-B5FA-CAEBBEAB7C91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CF853-FAD4-2011-DC77-C8C300203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013C3-BA6D-6407-5CBE-A3F59020E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C7CA-5027-460E-A53D-928C45B41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377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4EFFFA-5DD5-8B7C-15CA-8CBB07B1B2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B8EAF1-2011-9E9E-4DEA-4C7EE44DA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03CCF-0BCE-9BDE-F734-398B55583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6CDE2-689E-40E6-B5FA-CAEBBEAB7C91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95F60-FA5A-550E-7669-043BF0DBB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26F36-2ACF-BA93-5D7B-7B8228D8A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C7CA-5027-460E-A53D-928C45B41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532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BCF66E-4437-C5D2-8998-CCA56C4AA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E087E-E6DB-E71D-2B00-B47C223A0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089F4-1766-F180-A89F-A9CC2C7BAD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16CDE2-689E-40E6-B5FA-CAEBBEAB7C91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90D3C-0B0A-B610-2E7E-C3852461E7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A27A0-305B-75A5-9D86-A583B3D85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1CC7CA-5027-460E-A53D-928C45B411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865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427A89-DB8C-0C88-4948-CB64C0E5B931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D0293D-8F3C-3FA6-6B5F-AF783C6F1679}"/>
              </a:ext>
            </a:extLst>
          </p:cNvPr>
          <p:cNvSpPr txBox="1"/>
          <p:nvPr/>
        </p:nvSpPr>
        <p:spPr>
          <a:xfrm>
            <a:off x="304800" y="114300"/>
            <a:ext cx="115824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Segoe UI Semibold" panose="020B0702040204020203" pitchFamily="34" charset="0"/>
              </a:rPr>
              <a:t>Autonomous Incident Lifecycle - live, explainable, self-improving</a:t>
            </a:r>
            <a:endParaRPr lang="en-IN" sz="1900" b="1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708FF1-3815-424B-27A4-EBEA9B9BAB37}"/>
              </a:ext>
            </a:extLst>
          </p:cNvPr>
          <p:cNvSpPr txBox="1"/>
          <p:nvPr/>
        </p:nvSpPr>
        <p:spPr>
          <a:xfrm>
            <a:off x="304800" y="765517"/>
            <a:ext cx="11582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 dirty="0">
                <a:solidFill>
                  <a:srgbClr val="595959"/>
                </a:solidFill>
                <a:latin typeface="Segoe UI" panose="020B0502040204020203" pitchFamily="34" charset="0"/>
              </a:rPr>
              <a:t>One incident, three phases - as shown live in the </a:t>
            </a:r>
            <a:r>
              <a:rPr lang="en-US" sz="1500" b="1" dirty="0" err="1">
                <a:solidFill>
                  <a:srgbClr val="595959"/>
                </a:solidFill>
                <a:latin typeface="Segoe UI" panose="020B0502040204020203" pitchFamily="34" charset="0"/>
              </a:rPr>
              <a:t>Streamlit</a:t>
            </a:r>
            <a:r>
              <a:rPr lang="en-US" sz="1500" b="1" dirty="0">
                <a:solidFill>
                  <a:srgbClr val="595959"/>
                </a:solidFill>
                <a:latin typeface="Segoe UI" panose="020B0502040204020203" pitchFamily="34" charset="0"/>
              </a:rPr>
              <a:t> 'Live Activity' view</a:t>
            </a:r>
            <a:endParaRPr lang="en-IN" sz="1500" b="1" dirty="0">
              <a:solidFill>
                <a:srgbClr val="595959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C8D57C-BE6E-E46C-A009-8AD60DC86014}"/>
              </a:ext>
            </a:extLst>
          </p:cNvPr>
          <p:cNvSpPr/>
          <p:nvPr/>
        </p:nvSpPr>
        <p:spPr>
          <a:xfrm>
            <a:off x="304800" y="1208259"/>
            <a:ext cx="3657600" cy="3810000"/>
          </a:xfrm>
          <a:prstGeom prst="round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6B5291-7E40-CF52-B00E-5D08D81A37DB}"/>
              </a:ext>
            </a:extLst>
          </p:cNvPr>
          <p:cNvSpPr txBox="1"/>
          <p:nvPr/>
        </p:nvSpPr>
        <p:spPr>
          <a:xfrm>
            <a:off x="508000" y="1295400"/>
            <a:ext cx="3251200" cy="609600"/>
          </a:xfrm>
          <a:prstGeom prst="rect">
            <a:avLst/>
          </a:prstGeom>
          <a:noFill/>
        </p:spPr>
        <p:txBody>
          <a:bodyPr vert="horz" wrap="square" rtlCol="0" anchor="t" anchorCtr="0">
            <a:spAutoFit/>
          </a:bodyPr>
          <a:lstStyle/>
          <a:p>
            <a:r>
              <a:rPr lang="en-IN" b="1" dirty="0">
                <a:solidFill>
                  <a:srgbClr val="FFFFFF"/>
                </a:solidFill>
                <a:latin typeface="Segoe UI Semibold" panose="020B0702040204020203" pitchFamily="34" charset="0"/>
              </a:rPr>
              <a:t>1 - Observe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BF62CE-C398-DDEE-D054-BEFFACE92DC5}"/>
              </a:ext>
            </a:extLst>
          </p:cNvPr>
          <p:cNvSpPr txBox="1"/>
          <p:nvPr/>
        </p:nvSpPr>
        <p:spPr>
          <a:xfrm>
            <a:off x="558800" y="2006600"/>
            <a:ext cx="3149600" cy="2844800"/>
          </a:xfrm>
          <a:prstGeom prst="rect">
            <a:avLst/>
          </a:prstGeom>
          <a:noFill/>
        </p:spPr>
        <p:txBody>
          <a:bodyPr vert="horz" wrap="square" rtlCol="0" anchor="t" anchorCtr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Segoe UI" panose="020B0502040204020203" pitchFamily="34" charset="0"/>
              </a:rPr>
              <a:t>Ingest → Detect → Correlate
Signals from Appian, Mule and infrastructure are automatically correlated into a single incident across systems.
No manual log-hunting.</a:t>
            </a:r>
            <a:endParaRPr lang="en-IN" sz="16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C7DF3C-6CD2-C31C-EAC8-A10409938D0A}"/>
              </a:ext>
            </a:extLst>
          </p:cNvPr>
          <p:cNvSpPr/>
          <p:nvPr/>
        </p:nvSpPr>
        <p:spPr>
          <a:xfrm>
            <a:off x="4267200" y="1168400"/>
            <a:ext cx="3657600" cy="3810000"/>
          </a:xfrm>
          <a:prstGeom prst="round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E68DE5-AEA7-EFDC-B0A0-2D3C8A1421A1}"/>
              </a:ext>
            </a:extLst>
          </p:cNvPr>
          <p:cNvSpPr txBox="1"/>
          <p:nvPr/>
        </p:nvSpPr>
        <p:spPr>
          <a:xfrm>
            <a:off x="4470400" y="1295400"/>
            <a:ext cx="3251200" cy="6096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en-IN" b="1" dirty="0">
                <a:solidFill>
                  <a:srgbClr val="FFFFFF"/>
                </a:solidFill>
                <a:latin typeface="Segoe UI Semibold" panose="020B0702040204020203" pitchFamily="34" charset="0"/>
              </a:rPr>
              <a:t>2 - Diagnose + Human Gate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EE820C-2031-ADD1-A28D-871BF01277EF}"/>
              </a:ext>
            </a:extLst>
          </p:cNvPr>
          <p:cNvSpPr txBox="1"/>
          <p:nvPr/>
        </p:nvSpPr>
        <p:spPr>
          <a:xfrm>
            <a:off x="4521200" y="2006600"/>
            <a:ext cx="3149600" cy="2844800"/>
          </a:xfrm>
          <a:prstGeom prst="rect">
            <a:avLst/>
          </a:prstGeom>
          <a:noFill/>
        </p:spPr>
        <p:txBody>
          <a:bodyPr vert="horz" wrap="square" rtlCol="0" anchor="t" anchorCtr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Segoe UI" panose="020B0502040204020203" pitchFamily="34" charset="0"/>
              </a:rPr>
              <a:t>LLM root-cause analysis grounded in LIVE evidence AND our own PROVEN history.
A human approves before anything changes.</a:t>
            </a:r>
            <a:endParaRPr lang="en-IN" sz="16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C0BED6-5BCF-2F22-E966-0194CA54102F}"/>
              </a:ext>
            </a:extLst>
          </p:cNvPr>
          <p:cNvSpPr/>
          <p:nvPr/>
        </p:nvSpPr>
        <p:spPr>
          <a:xfrm>
            <a:off x="8229600" y="1168400"/>
            <a:ext cx="3657600" cy="3810000"/>
          </a:xfrm>
          <a:prstGeom prst="round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EF9AD5-605F-6769-6D54-1CBFC24393A0}"/>
              </a:ext>
            </a:extLst>
          </p:cNvPr>
          <p:cNvSpPr txBox="1"/>
          <p:nvPr/>
        </p:nvSpPr>
        <p:spPr>
          <a:xfrm>
            <a:off x="8432800" y="1295400"/>
            <a:ext cx="3251200" cy="6096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en-IN" b="1" dirty="0">
                <a:solidFill>
                  <a:srgbClr val="FFFFFF"/>
                </a:solidFill>
                <a:latin typeface="Segoe UI Semibold" panose="020B0702040204020203" pitchFamily="34" charset="0"/>
              </a:rPr>
              <a:t>3 - Remediate + Learn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85A069-AFE1-B4B3-0781-5EF6B47134A5}"/>
              </a:ext>
            </a:extLst>
          </p:cNvPr>
          <p:cNvSpPr txBox="1"/>
          <p:nvPr/>
        </p:nvSpPr>
        <p:spPr>
          <a:xfrm>
            <a:off x="8483600" y="2006600"/>
            <a:ext cx="3149600" cy="2844800"/>
          </a:xfrm>
          <a:prstGeom prst="rect">
            <a:avLst/>
          </a:prstGeom>
          <a:noFill/>
        </p:spPr>
        <p:txBody>
          <a:bodyPr vert="horz" wrap="square" rtlCol="0" anchor="t" anchorCtr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Segoe UI" panose="020B0502040204020203" pitchFamily="34" charset="0"/>
              </a:rPr>
              <a:t>One click → automated fix, verified, audited in Jira, incident closed in ServiceNow.
The system learns for next time.</a:t>
            </a:r>
            <a:endParaRPr lang="en-IN" sz="16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C32F879-0A11-75CE-D02D-0D29C58B93CC}"/>
              </a:ext>
            </a:extLst>
          </p:cNvPr>
          <p:cNvSpPr/>
          <p:nvPr/>
        </p:nvSpPr>
        <p:spPr>
          <a:xfrm>
            <a:off x="304800" y="5943600"/>
            <a:ext cx="11582400" cy="609600"/>
          </a:xfrm>
          <a:prstGeom prst="round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rIns="1778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Closed loop: detect → diagnose (with history) → approve → remediate → audit (Jira) → resolve (ServiceNow) → learn.   Explainable, governed, self-improving.</a:t>
            </a:r>
            <a:endParaRPr lang="en-IN" sz="1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944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CD087B-A2AC-1EE2-3D8B-0E12BC72A900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B1E4C-FB6C-1CFF-9492-4DF5D7E6A87A}"/>
              </a:ext>
            </a:extLst>
          </p:cNvPr>
          <p:cNvSpPr txBox="1"/>
          <p:nvPr/>
        </p:nvSpPr>
        <p:spPr>
          <a:xfrm>
            <a:off x="304800" y="114300"/>
            <a:ext cx="115824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Segoe UI Semibold" panose="020B0702040204020203" pitchFamily="34" charset="0"/>
              </a:rPr>
              <a:t>Phase 1 - Observe: Ingest, Detect &amp; Correlate</a:t>
            </a:r>
            <a:endParaRPr lang="en-IN" sz="1900" b="1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FCCD1E-03A0-DEF3-CD3B-223BD8CD1D79}"/>
              </a:ext>
            </a:extLst>
          </p:cNvPr>
          <p:cNvSpPr txBox="1"/>
          <p:nvPr/>
        </p:nvSpPr>
        <p:spPr>
          <a:xfrm>
            <a:off x="501446" y="1117043"/>
            <a:ext cx="115824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 dirty="0">
                <a:solidFill>
                  <a:srgbClr val="595959"/>
                </a:solidFill>
                <a:latin typeface="Segoe UI" panose="020B0502040204020203" pitchFamily="34" charset="0"/>
              </a:rPr>
              <a:t>The platform watches every source and assembles one incident</a:t>
            </a:r>
            <a:endParaRPr lang="en-IN" sz="1500" b="1" dirty="0">
              <a:solidFill>
                <a:srgbClr val="595959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16801A5-0E0E-F714-42E9-C83A07BA8935}"/>
              </a:ext>
            </a:extLst>
          </p:cNvPr>
          <p:cNvSpPr/>
          <p:nvPr/>
        </p:nvSpPr>
        <p:spPr>
          <a:xfrm>
            <a:off x="609600" y="2286000"/>
            <a:ext cx="2006600" cy="482600"/>
          </a:xfrm>
          <a:prstGeom prst="round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rIns="25400" rtlCol="0" anchor="ctr" anchorCtr="0"/>
          <a:lstStyle/>
          <a:p>
            <a:pPr algn="ctr"/>
            <a:r>
              <a:rPr lang="en-IN" sz="1400" b="1" dirty="0">
                <a:solidFill>
                  <a:srgbClr val="FFFFFF"/>
                </a:solidFill>
                <a:latin typeface="Segoe UI" panose="020B0502040204020203" pitchFamily="34" charset="0"/>
              </a:rPr>
              <a:t>INGEST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6A2A50-E997-0BDF-A162-D03E1CFA816D}"/>
              </a:ext>
            </a:extLst>
          </p:cNvPr>
          <p:cNvSpPr txBox="1"/>
          <p:nvPr/>
        </p:nvSpPr>
        <p:spPr>
          <a:xfrm>
            <a:off x="2946400" y="2286000"/>
            <a:ext cx="8763000" cy="482600"/>
          </a:xfrm>
          <a:prstGeom prst="rect">
            <a:avLst/>
          </a:prstGeom>
          <a:noFill/>
        </p:spPr>
        <p:txBody>
          <a:bodyPr vert="horz" rtlCol="0" anchor="ctr" anchorCtr="0">
            <a:spAutoFit/>
          </a:bodyPr>
          <a:lstStyle/>
          <a:p>
            <a:r>
              <a:rPr lang="en-US" sz="1500" dirty="0">
                <a:solidFill>
                  <a:srgbClr val="333333"/>
                </a:solidFill>
                <a:latin typeface="Segoe UI" panose="020B0502040204020203" pitchFamily="34" charset="0"/>
              </a:rPr>
              <a:t>Collected live telemetry signals from Appian, Mule and infrastructure</a:t>
            </a:r>
            <a:endParaRPr lang="en-IN" sz="1500" dirty="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F1B2616-369B-7F13-2004-F3533D424847}"/>
              </a:ext>
            </a:extLst>
          </p:cNvPr>
          <p:cNvSpPr/>
          <p:nvPr/>
        </p:nvSpPr>
        <p:spPr>
          <a:xfrm>
            <a:off x="609600" y="3505200"/>
            <a:ext cx="2006600" cy="482600"/>
          </a:xfrm>
          <a:prstGeom prst="round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rIns="25400" rtlCol="0" anchor="ctr" anchorCtr="0"/>
          <a:lstStyle/>
          <a:p>
            <a:pPr algn="ctr"/>
            <a:r>
              <a:rPr lang="en-IN" sz="1400" b="1" dirty="0">
                <a:solidFill>
                  <a:srgbClr val="FFFFFF"/>
                </a:solidFill>
                <a:latin typeface="Segoe UI" panose="020B0502040204020203" pitchFamily="34" charset="0"/>
              </a:rPr>
              <a:t>DETECT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ABED7D-7351-D865-7C30-5F408BD979A6}"/>
              </a:ext>
            </a:extLst>
          </p:cNvPr>
          <p:cNvSpPr txBox="1"/>
          <p:nvPr/>
        </p:nvSpPr>
        <p:spPr>
          <a:xfrm>
            <a:off x="2946400" y="3505200"/>
            <a:ext cx="8763000" cy="482600"/>
          </a:xfrm>
          <a:prstGeom prst="rect">
            <a:avLst/>
          </a:prstGeom>
          <a:noFill/>
        </p:spPr>
        <p:txBody>
          <a:bodyPr vert="horz" rtlCol="0" anchor="ctr" anchorCtr="0">
            <a:spAutoFit/>
          </a:bodyPr>
          <a:lstStyle/>
          <a:p>
            <a:r>
              <a:rPr lang="en-US" sz="1500" dirty="0">
                <a:solidFill>
                  <a:srgbClr val="333333"/>
                </a:solidFill>
                <a:latin typeface="Segoe UI" panose="020B0502040204020203" pitchFamily="34" charset="0"/>
              </a:rPr>
              <a:t>Analyzed the signals and flagged anomalies</a:t>
            </a:r>
            <a:endParaRPr lang="en-IN" sz="1500" dirty="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65501C3-0316-2929-B07F-79B3EC1E4584}"/>
              </a:ext>
            </a:extLst>
          </p:cNvPr>
          <p:cNvSpPr/>
          <p:nvPr/>
        </p:nvSpPr>
        <p:spPr>
          <a:xfrm>
            <a:off x="609600" y="4724400"/>
            <a:ext cx="2006600" cy="482600"/>
          </a:xfrm>
          <a:prstGeom prst="round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rIns="25400" rtlCol="0" anchor="ctr" anchorCtr="0"/>
          <a:lstStyle/>
          <a:p>
            <a:pPr algn="ctr"/>
            <a:r>
              <a:rPr lang="en-IN" sz="1400" b="1" dirty="0">
                <a:solidFill>
                  <a:srgbClr val="FFFFFF"/>
                </a:solidFill>
                <a:latin typeface="Segoe UI" panose="020B0502040204020203" pitchFamily="34" charset="0"/>
              </a:rPr>
              <a:t>CORRELATE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553C92-2650-A88A-8609-12545BB033BA}"/>
              </a:ext>
            </a:extLst>
          </p:cNvPr>
          <p:cNvSpPr txBox="1"/>
          <p:nvPr/>
        </p:nvSpPr>
        <p:spPr>
          <a:xfrm>
            <a:off x="2946400" y="4724400"/>
            <a:ext cx="8763000" cy="482600"/>
          </a:xfrm>
          <a:prstGeom prst="rect">
            <a:avLst/>
          </a:prstGeom>
          <a:noFill/>
        </p:spPr>
        <p:txBody>
          <a:bodyPr vert="horz" rtlCol="0" anchor="ctr" anchorCtr="0">
            <a:spAutoFit/>
          </a:bodyPr>
          <a:lstStyle/>
          <a:p>
            <a:r>
              <a:rPr lang="en-US" sz="1500" dirty="0">
                <a:solidFill>
                  <a:srgbClr val="333333"/>
                </a:solidFill>
                <a:latin typeface="Segoe UI" panose="020B0502040204020203" pitchFamily="34" charset="0"/>
              </a:rPr>
              <a:t>Connected the related signals into ONE incident across systems</a:t>
            </a:r>
            <a:endParaRPr lang="en-IN" sz="1500" dirty="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94EECC-AABC-B713-6537-E95CEBC595ED}"/>
              </a:ext>
            </a:extLst>
          </p:cNvPr>
          <p:cNvSpPr/>
          <p:nvPr/>
        </p:nvSpPr>
        <p:spPr>
          <a:xfrm>
            <a:off x="304800" y="5943600"/>
            <a:ext cx="11582400" cy="609600"/>
          </a:xfrm>
          <a:prstGeom prst="round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rIns="1778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Full-stack observability - cross-source signals auto-correlated into a single incident. Operators start from one clear picture, not scattered logs.</a:t>
            </a:r>
            <a:endParaRPr lang="en-IN" sz="1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708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4A2DB8-69C2-7EE2-EF74-3D91C3A62078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5F4ACF-F50B-45E6-DE65-344E2F73AC63}"/>
              </a:ext>
            </a:extLst>
          </p:cNvPr>
          <p:cNvSpPr txBox="1"/>
          <p:nvPr/>
        </p:nvSpPr>
        <p:spPr>
          <a:xfrm>
            <a:off x="304800" y="114300"/>
            <a:ext cx="115824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Segoe UI Semibold" panose="020B0702040204020203" pitchFamily="34" charset="0"/>
              </a:rPr>
              <a:t>Phase 2 - Diagnose with live + historical context, then Await Approval</a:t>
            </a:r>
            <a:endParaRPr lang="en-IN" sz="1900" b="1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F1851C-0756-7D4C-E76C-646D7776AE41}"/>
              </a:ext>
            </a:extLst>
          </p:cNvPr>
          <p:cNvSpPr txBox="1"/>
          <p:nvPr/>
        </p:nvSpPr>
        <p:spPr>
          <a:xfrm>
            <a:off x="495300" y="1117600"/>
            <a:ext cx="1158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 dirty="0">
                <a:solidFill>
                  <a:srgbClr val="595959"/>
                </a:solidFill>
                <a:latin typeface="Segoe UI" panose="020B0502040204020203" pitchFamily="34" charset="0"/>
              </a:rPr>
              <a:t>Explainable AI root-cause, grounded in proven history - with a human gate</a:t>
            </a:r>
            <a:endParaRPr lang="en-IN" sz="1500" b="1" dirty="0">
              <a:solidFill>
                <a:srgbClr val="595959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A118FD7-3758-5C8B-6EE8-3A057CD92E6D}"/>
              </a:ext>
            </a:extLst>
          </p:cNvPr>
          <p:cNvSpPr/>
          <p:nvPr/>
        </p:nvSpPr>
        <p:spPr>
          <a:xfrm>
            <a:off x="609600" y="1651000"/>
            <a:ext cx="2006600" cy="482600"/>
          </a:xfrm>
          <a:prstGeom prst="round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rIns="25400" rtlCol="0" anchor="ctr" anchorCtr="0"/>
          <a:lstStyle/>
          <a:p>
            <a:pPr algn="ctr"/>
            <a:r>
              <a:rPr lang="en-IN" sz="1400" b="1" dirty="0">
                <a:solidFill>
                  <a:srgbClr val="FFFFFF"/>
                </a:solidFill>
                <a:latin typeface="Segoe UI" panose="020B0502040204020203" pitchFamily="34" charset="0"/>
              </a:rPr>
              <a:t>DIAGNOSE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C7F970-3E7F-CE69-4DFE-D1F5A1B5E5DF}"/>
              </a:ext>
            </a:extLst>
          </p:cNvPr>
          <p:cNvSpPr txBox="1"/>
          <p:nvPr/>
        </p:nvSpPr>
        <p:spPr>
          <a:xfrm>
            <a:off x="2946400" y="1651000"/>
            <a:ext cx="8763000" cy="482600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r>
              <a:rPr lang="en-US" sz="1500">
                <a:solidFill>
                  <a:srgbClr val="333333"/>
                </a:solidFill>
                <a:latin typeface="Segoe UI" panose="020B0502040204020203" pitchFamily="34" charset="0"/>
              </a:rPr>
              <a:t>Analyzing the incident across the affected systems</a:t>
            </a:r>
            <a:endParaRPr lang="en-IN" sz="150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859AB1E-C676-1028-82B8-5022918CDADC}"/>
              </a:ext>
            </a:extLst>
          </p:cNvPr>
          <p:cNvSpPr/>
          <p:nvPr/>
        </p:nvSpPr>
        <p:spPr>
          <a:xfrm>
            <a:off x="609600" y="2235200"/>
            <a:ext cx="2006600" cy="482600"/>
          </a:xfrm>
          <a:prstGeom prst="round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rIns="25400" rtlCol="0" anchor="ctr" anchorCtr="0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DIAGNOSE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3ACF87-2303-B6CA-E2F9-42D6C3EA8E5C}"/>
              </a:ext>
            </a:extLst>
          </p:cNvPr>
          <p:cNvSpPr txBox="1"/>
          <p:nvPr/>
        </p:nvSpPr>
        <p:spPr>
          <a:xfrm>
            <a:off x="2946400" y="2235200"/>
            <a:ext cx="8763000" cy="482600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r>
              <a:rPr lang="en-US" sz="1500">
                <a:solidFill>
                  <a:srgbClr val="333333"/>
                </a:solidFill>
                <a:latin typeface="Segoe UI" panose="020B0502040204020203" pitchFamily="34" charset="0"/>
              </a:rPr>
              <a:t>Searching our incident history for similar past cases</a:t>
            </a:r>
            <a:endParaRPr lang="en-IN" sz="150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E28D26B-C88E-085B-26BA-9E3EE06CD483}"/>
              </a:ext>
            </a:extLst>
          </p:cNvPr>
          <p:cNvSpPr/>
          <p:nvPr/>
        </p:nvSpPr>
        <p:spPr>
          <a:xfrm>
            <a:off x="609600" y="2819400"/>
            <a:ext cx="2006600" cy="482600"/>
          </a:xfrm>
          <a:prstGeom prst="round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rIns="25400" rtlCol="0" anchor="ctr" anchorCtr="0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DIAGNOSE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F8DBB1-036D-24E8-A5BC-CA6D51BEBF34}"/>
              </a:ext>
            </a:extLst>
          </p:cNvPr>
          <p:cNvSpPr txBox="1"/>
          <p:nvPr/>
        </p:nvSpPr>
        <p:spPr>
          <a:xfrm>
            <a:off x="2946400" y="2819400"/>
            <a:ext cx="8763000" cy="482600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r>
              <a:rPr lang="en-US" sz="1500" dirty="0">
                <a:solidFill>
                  <a:srgbClr val="333333"/>
                </a:solidFill>
                <a:latin typeface="Segoe UI" panose="020B0502040204020203" pitchFamily="34" charset="0"/>
              </a:rPr>
              <a:t>Found proven historical resolution(s) to learn from</a:t>
            </a:r>
            <a:endParaRPr lang="en-IN" sz="1500" dirty="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55A57F3-C01B-5BE0-DAD0-3FB186745F05}"/>
              </a:ext>
            </a:extLst>
          </p:cNvPr>
          <p:cNvSpPr/>
          <p:nvPr/>
        </p:nvSpPr>
        <p:spPr>
          <a:xfrm>
            <a:off x="609600" y="3403600"/>
            <a:ext cx="2006600" cy="482600"/>
          </a:xfrm>
          <a:prstGeom prst="round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rIns="25400" rtlCol="0" anchor="ctr" anchorCtr="0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DIAGNOSE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86F297-B11F-63A8-B860-E1889CD69393}"/>
              </a:ext>
            </a:extLst>
          </p:cNvPr>
          <p:cNvSpPr txBox="1"/>
          <p:nvPr/>
        </p:nvSpPr>
        <p:spPr>
          <a:xfrm>
            <a:off x="2946400" y="3403600"/>
            <a:ext cx="8763000" cy="482600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r>
              <a:rPr lang="en-US" sz="1500">
                <a:solidFill>
                  <a:srgbClr val="333333"/>
                </a:solidFill>
                <a:latin typeface="Segoe UI" panose="020B0502040204020203" pitchFamily="34" charset="0"/>
              </a:rPr>
              <a:t>AI reasoning over the live evidence AND historical data</a:t>
            </a:r>
            <a:endParaRPr lang="en-IN" sz="150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D548CC3-9734-1917-E51A-01ACE5B85744}"/>
              </a:ext>
            </a:extLst>
          </p:cNvPr>
          <p:cNvSpPr/>
          <p:nvPr/>
        </p:nvSpPr>
        <p:spPr>
          <a:xfrm>
            <a:off x="609600" y="3987800"/>
            <a:ext cx="2006600" cy="482600"/>
          </a:xfrm>
          <a:prstGeom prst="round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rIns="25400" rtlCol="0" anchor="ctr" anchorCtr="0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DIAGNOSE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065BFD-2E83-EF40-7DEE-FE049922F64E}"/>
              </a:ext>
            </a:extLst>
          </p:cNvPr>
          <p:cNvSpPr txBox="1"/>
          <p:nvPr/>
        </p:nvSpPr>
        <p:spPr>
          <a:xfrm>
            <a:off x="2946400" y="3987800"/>
            <a:ext cx="8763000" cy="482600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r>
              <a:rPr lang="en-US" sz="1500">
                <a:solidFill>
                  <a:srgbClr val="333333"/>
                </a:solidFill>
                <a:latin typeface="Segoe UI" panose="020B0502040204020203" pitchFamily="34" charset="0"/>
              </a:rPr>
              <a:t>Root cause identified - recommendation backed by proven past fixes</a:t>
            </a:r>
            <a:endParaRPr lang="en-IN" sz="150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C2A5E5B-BAAF-DDB1-0091-EC128D62A7C4}"/>
              </a:ext>
            </a:extLst>
          </p:cNvPr>
          <p:cNvSpPr/>
          <p:nvPr/>
        </p:nvSpPr>
        <p:spPr>
          <a:xfrm>
            <a:off x="609600" y="4572000"/>
            <a:ext cx="2006600" cy="482600"/>
          </a:xfrm>
          <a:prstGeom prst="round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rIns="25400" rtlCol="0" anchor="ctr" anchorCtr="0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SNOW_CREATE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3B0534-3EB4-7B00-8529-A12F7A271E09}"/>
              </a:ext>
            </a:extLst>
          </p:cNvPr>
          <p:cNvSpPr txBox="1"/>
          <p:nvPr/>
        </p:nvSpPr>
        <p:spPr>
          <a:xfrm>
            <a:off x="2946400" y="4572000"/>
            <a:ext cx="8763000" cy="482600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r>
              <a:rPr lang="en-US" sz="1500" dirty="0">
                <a:solidFill>
                  <a:srgbClr val="333333"/>
                </a:solidFill>
                <a:latin typeface="Segoe UI" panose="020B0502040204020203" pitchFamily="34" charset="0"/>
              </a:rPr>
              <a:t>Incident ticket raised in ServiceNow (e.g. INC0010024)</a:t>
            </a:r>
            <a:endParaRPr lang="en-IN" sz="1500" dirty="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7D4BF89-3D0A-CA64-7431-2C3AA570B529}"/>
              </a:ext>
            </a:extLst>
          </p:cNvPr>
          <p:cNvSpPr/>
          <p:nvPr/>
        </p:nvSpPr>
        <p:spPr>
          <a:xfrm>
            <a:off x="609600" y="5156200"/>
            <a:ext cx="2006600" cy="482600"/>
          </a:xfrm>
          <a:prstGeom prst="round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rIns="25400" rtlCol="0" anchor="ctr" anchorCtr="0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APPROVAL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E4BB0D-1C4F-D0C3-6B81-36075EA5A754}"/>
              </a:ext>
            </a:extLst>
          </p:cNvPr>
          <p:cNvSpPr txBox="1"/>
          <p:nvPr/>
        </p:nvSpPr>
        <p:spPr>
          <a:xfrm>
            <a:off x="2946400" y="5156200"/>
            <a:ext cx="8763000" cy="482600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r>
              <a:rPr lang="en-US" sz="1500">
                <a:solidFill>
                  <a:srgbClr val="333333"/>
                </a:solidFill>
                <a:latin typeface="Segoe UI" panose="020B0502040204020203" pitchFamily="34" charset="0"/>
              </a:rPr>
              <a:t>Awaiting human approval  (nothing runs until a person approves)</a:t>
            </a:r>
            <a:endParaRPr lang="en-IN" sz="150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C2F11E5-3065-DEC6-0A26-861C7BEDC7E0}"/>
              </a:ext>
            </a:extLst>
          </p:cNvPr>
          <p:cNvSpPr/>
          <p:nvPr/>
        </p:nvSpPr>
        <p:spPr>
          <a:xfrm>
            <a:off x="304800" y="5943600"/>
            <a:ext cx="11582400" cy="609600"/>
          </a:xfrm>
          <a:prstGeom prst="round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rIns="1778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Trust + speed: the AI cites LIVE evidence and our OWN proven resolutions with confidence - and a human approves before any change is made.</a:t>
            </a:r>
            <a:endParaRPr lang="en-IN" sz="1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833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E2789A-A38F-5CEC-1F3C-053B3249A5E3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1CBBE7-DFA6-B32A-0439-5F2585CB52C7}"/>
              </a:ext>
            </a:extLst>
          </p:cNvPr>
          <p:cNvSpPr txBox="1"/>
          <p:nvPr/>
        </p:nvSpPr>
        <p:spPr>
          <a:xfrm>
            <a:off x="304800" y="114300"/>
            <a:ext cx="115824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Segoe UI Semibold" panose="020B0702040204020203" pitchFamily="34" charset="0"/>
              </a:rPr>
              <a:t>Phase 3 - After approval: Remediate, Audit, Resolve &amp; Learn</a:t>
            </a:r>
            <a:endParaRPr lang="en-IN" sz="1900" b="1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98E08C-C133-8D77-F587-80EB06DBF2F6}"/>
              </a:ext>
            </a:extLst>
          </p:cNvPr>
          <p:cNvSpPr txBox="1"/>
          <p:nvPr/>
        </p:nvSpPr>
        <p:spPr>
          <a:xfrm>
            <a:off x="495300" y="1117600"/>
            <a:ext cx="11582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 dirty="0">
                <a:solidFill>
                  <a:srgbClr val="595959"/>
                </a:solidFill>
                <a:latin typeface="Segoe UI" panose="020B0502040204020203" pitchFamily="34" charset="0"/>
              </a:rPr>
              <a:t>One click closes the loop - and the system gets smarter</a:t>
            </a:r>
            <a:endParaRPr lang="en-IN" sz="1500" b="1" dirty="0">
              <a:solidFill>
                <a:srgbClr val="595959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B5206D8-0AA7-EB32-F44D-74BDA2365D33}"/>
              </a:ext>
            </a:extLst>
          </p:cNvPr>
          <p:cNvSpPr/>
          <p:nvPr/>
        </p:nvSpPr>
        <p:spPr>
          <a:xfrm>
            <a:off x="609600" y="1651000"/>
            <a:ext cx="2006600" cy="482600"/>
          </a:xfrm>
          <a:prstGeom prst="round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rIns="25400" rtlCol="0" anchor="ctr" anchorCtr="0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APPROVAL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159397-0A36-B171-FBC4-DD30434B5F91}"/>
              </a:ext>
            </a:extLst>
          </p:cNvPr>
          <p:cNvSpPr txBox="1"/>
          <p:nvPr/>
        </p:nvSpPr>
        <p:spPr>
          <a:xfrm>
            <a:off x="2946400" y="1651000"/>
            <a:ext cx="8763000" cy="482600"/>
          </a:xfrm>
          <a:prstGeom prst="rect">
            <a:avLst/>
          </a:prstGeom>
          <a:noFill/>
        </p:spPr>
        <p:txBody>
          <a:bodyPr vert="horz" rtlCol="0" anchor="ctr" anchorCtr="0">
            <a:spAutoFit/>
          </a:bodyPr>
          <a:lstStyle/>
          <a:p>
            <a:r>
              <a:rPr lang="en-IN" sz="1500">
                <a:solidFill>
                  <a:srgbClr val="333333"/>
                </a:solidFill>
                <a:latin typeface="Segoe UI" panose="020B0502040204020203" pitchFamily="34" charset="0"/>
              </a:rPr>
              <a:t>Human approved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B218C2-B071-273B-00CF-1E389F030078}"/>
              </a:ext>
            </a:extLst>
          </p:cNvPr>
          <p:cNvSpPr/>
          <p:nvPr/>
        </p:nvSpPr>
        <p:spPr>
          <a:xfrm>
            <a:off x="609600" y="2235200"/>
            <a:ext cx="2006600" cy="482600"/>
          </a:xfrm>
          <a:prstGeom prst="round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rIns="25400" rtlCol="0" anchor="ctr" anchorCtr="0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VALIDATE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4CCADC-4934-765A-D6F8-2FBFAB37F8AE}"/>
              </a:ext>
            </a:extLst>
          </p:cNvPr>
          <p:cNvSpPr txBox="1"/>
          <p:nvPr/>
        </p:nvSpPr>
        <p:spPr>
          <a:xfrm>
            <a:off x="2946400" y="2235200"/>
            <a:ext cx="8763000" cy="482600"/>
          </a:xfrm>
          <a:prstGeom prst="rect">
            <a:avLst/>
          </a:prstGeom>
          <a:noFill/>
        </p:spPr>
        <p:txBody>
          <a:bodyPr vert="horz" rtlCol="0" anchor="ctr" anchorCtr="0">
            <a:spAutoFit/>
          </a:bodyPr>
          <a:lstStyle/>
          <a:p>
            <a:r>
              <a:rPr lang="en-US" sz="1500">
                <a:solidFill>
                  <a:srgbClr val="333333"/>
                </a:solidFill>
                <a:latin typeface="Segoe UI" panose="020B0502040204020203" pitchFamily="34" charset="0"/>
              </a:rPr>
              <a:t>Safety-checked the proposed fix (allow-list)</a:t>
            </a:r>
            <a:endParaRPr lang="en-IN" sz="150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29E272C-ABBB-AC60-6D45-1C240A3582D2}"/>
              </a:ext>
            </a:extLst>
          </p:cNvPr>
          <p:cNvSpPr/>
          <p:nvPr/>
        </p:nvSpPr>
        <p:spPr>
          <a:xfrm>
            <a:off x="609600" y="2819400"/>
            <a:ext cx="2006600" cy="482600"/>
          </a:xfrm>
          <a:prstGeom prst="round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rIns="25400" rtlCol="0" anchor="ctr" anchorCtr="0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EXECUTE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479329-653C-7C22-9A80-02C9D4B08BC6}"/>
              </a:ext>
            </a:extLst>
          </p:cNvPr>
          <p:cNvSpPr txBox="1"/>
          <p:nvPr/>
        </p:nvSpPr>
        <p:spPr>
          <a:xfrm>
            <a:off x="2946400" y="2819400"/>
            <a:ext cx="8763000" cy="482600"/>
          </a:xfrm>
          <a:prstGeom prst="rect">
            <a:avLst/>
          </a:prstGeom>
          <a:noFill/>
        </p:spPr>
        <p:txBody>
          <a:bodyPr vert="horz" rtlCol="0" anchor="ctr" anchorCtr="0">
            <a:spAutoFit/>
          </a:bodyPr>
          <a:lstStyle/>
          <a:p>
            <a:r>
              <a:rPr lang="en-US" sz="1500">
                <a:solidFill>
                  <a:srgbClr val="333333"/>
                </a:solidFill>
                <a:latin typeface="Segoe UI" panose="020B0502040204020203" pitchFamily="34" charset="0"/>
              </a:rPr>
              <a:t>Applied the recommended fix  (exit code 0)</a:t>
            </a:r>
            <a:endParaRPr lang="en-IN" sz="150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D8F270F-4B72-9279-1492-C95EC49EE9F9}"/>
              </a:ext>
            </a:extLst>
          </p:cNvPr>
          <p:cNvSpPr/>
          <p:nvPr/>
        </p:nvSpPr>
        <p:spPr>
          <a:xfrm>
            <a:off x="609600" y="3403600"/>
            <a:ext cx="2006600" cy="482600"/>
          </a:xfrm>
          <a:prstGeom prst="round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rIns="25400" rtlCol="0" anchor="ctr" anchorCtr="0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VERIFY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154738-0CC3-A966-42F9-40F191F05F3D}"/>
              </a:ext>
            </a:extLst>
          </p:cNvPr>
          <p:cNvSpPr txBox="1"/>
          <p:nvPr/>
        </p:nvSpPr>
        <p:spPr>
          <a:xfrm>
            <a:off x="2946400" y="3403600"/>
            <a:ext cx="8763000" cy="482600"/>
          </a:xfrm>
          <a:prstGeom prst="rect">
            <a:avLst/>
          </a:prstGeom>
          <a:noFill/>
        </p:spPr>
        <p:txBody>
          <a:bodyPr vert="horz" rtlCol="0" anchor="ctr" anchorCtr="0">
            <a:spAutoFit/>
          </a:bodyPr>
          <a:lstStyle/>
          <a:p>
            <a:r>
              <a:rPr lang="en-US" sz="1500">
                <a:solidFill>
                  <a:srgbClr val="333333"/>
                </a:solidFill>
                <a:latin typeface="Segoe UI" panose="020B0502040204020203" pitchFamily="34" charset="0"/>
              </a:rPr>
              <a:t>Confirmed the fix resolved the issue</a:t>
            </a:r>
            <a:endParaRPr lang="en-IN" sz="150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844B9F9-12B1-A1DA-51C1-E8F6FCA80F22}"/>
              </a:ext>
            </a:extLst>
          </p:cNvPr>
          <p:cNvSpPr/>
          <p:nvPr/>
        </p:nvSpPr>
        <p:spPr>
          <a:xfrm>
            <a:off x="609600" y="3987800"/>
            <a:ext cx="2006600" cy="482600"/>
          </a:xfrm>
          <a:prstGeom prst="round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rIns="25400" rtlCol="0" anchor="ctr" anchorCtr="0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JIRA_CREATE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0D054B-601B-825E-2DB8-E990EE946B76}"/>
              </a:ext>
            </a:extLst>
          </p:cNvPr>
          <p:cNvSpPr txBox="1"/>
          <p:nvPr/>
        </p:nvSpPr>
        <p:spPr>
          <a:xfrm>
            <a:off x="2946400" y="3987800"/>
            <a:ext cx="8763000" cy="482600"/>
          </a:xfrm>
          <a:prstGeom prst="rect">
            <a:avLst/>
          </a:prstGeom>
          <a:noFill/>
        </p:spPr>
        <p:txBody>
          <a:bodyPr vert="horz" rtlCol="0" anchor="ctr" anchorCtr="0">
            <a:spAutoFit/>
          </a:bodyPr>
          <a:lstStyle/>
          <a:p>
            <a:r>
              <a:rPr lang="en-US" sz="1500">
                <a:solidFill>
                  <a:srgbClr val="333333"/>
                </a:solidFill>
                <a:latin typeface="Segoe UI" panose="020B0502040204020203" pitchFamily="34" charset="0"/>
              </a:rPr>
              <a:t>Audit record logged in Jira (KAN-15, status Done)</a:t>
            </a:r>
            <a:endParaRPr lang="en-IN" sz="150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907B540-206E-0519-A19F-3BAB450D7931}"/>
              </a:ext>
            </a:extLst>
          </p:cNvPr>
          <p:cNvSpPr/>
          <p:nvPr/>
        </p:nvSpPr>
        <p:spPr>
          <a:xfrm>
            <a:off x="609600" y="4572000"/>
            <a:ext cx="2006600" cy="482600"/>
          </a:xfrm>
          <a:prstGeom prst="round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rIns="25400" rtlCol="0" anchor="ctr" anchorCtr="0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SNOW_RESOLVE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128C15-D204-BA29-7AA5-A59AC60FE4CD}"/>
              </a:ext>
            </a:extLst>
          </p:cNvPr>
          <p:cNvSpPr txBox="1"/>
          <p:nvPr/>
        </p:nvSpPr>
        <p:spPr>
          <a:xfrm>
            <a:off x="2946400" y="4572000"/>
            <a:ext cx="8763000" cy="482600"/>
          </a:xfrm>
          <a:prstGeom prst="rect">
            <a:avLst/>
          </a:prstGeom>
          <a:noFill/>
        </p:spPr>
        <p:txBody>
          <a:bodyPr vert="horz" rtlCol="0" anchor="ctr" anchorCtr="0">
            <a:spAutoFit/>
          </a:bodyPr>
          <a:lstStyle/>
          <a:p>
            <a:r>
              <a:rPr lang="en-US" sz="1500">
                <a:solidFill>
                  <a:srgbClr val="333333"/>
                </a:solidFill>
                <a:latin typeface="Segoe UI" panose="020B0502040204020203" pitchFamily="34" charset="0"/>
              </a:rPr>
              <a:t>ServiceNow incident closed (INC0010024, cites Jira KAN-15)</a:t>
            </a:r>
            <a:endParaRPr lang="en-IN" sz="150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28F87F4-96B8-6930-4DB7-AC6EE51FC287}"/>
              </a:ext>
            </a:extLst>
          </p:cNvPr>
          <p:cNvSpPr/>
          <p:nvPr/>
        </p:nvSpPr>
        <p:spPr>
          <a:xfrm>
            <a:off x="609600" y="5156200"/>
            <a:ext cx="2006600" cy="482600"/>
          </a:xfrm>
          <a:prstGeom prst="round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rIns="25400" rtlCol="0" anchor="ctr" anchorCtr="0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LEARN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0CBDEF-F911-8132-A2CA-599E785AE020}"/>
              </a:ext>
            </a:extLst>
          </p:cNvPr>
          <p:cNvSpPr txBox="1"/>
          <p:nvPr/>
        </p:nvSpPr>
        <p:spPr>
          <a:xfrm>
            <a:off x="2946400" y="5156200"/>
            <a:ext cx="8763000" cy="482600"/>
          </a:xfrm>
          <a:prstGeom prst="rect">
            <a:avLst/>
          </a:prstGeom>
          <a:noFill/>
        </p:spPr>
        <p:txBody>
          <a:bodyPr vert="horz" rtlCol="0" anchor="ctr" anchorCtr="0">
            <a:spAutoFit/>
          </a:bodyPr>
          <a:lstStyle/>
          <a:p>
            <a:r>
              <a:rPr lang="en-US" sz="1500">
                <a:solidFill>
                  <a:srgbClr val="333333"/>
                </a:solidFill>
                <a:latin typeface="Segoe UI" panose="020B0502040204020203" pitchFamily="34" charset="0"/>
              </a:rPr>
              <a:t>Saved to institutional memory - the system just got smarter</a:t>
            </a:r>
            <a:endParaRPr lang="en-IN" sz="150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D2CF3C0-51C5-CBFF-A38C-476A75EA9F43}"/>
              </a:ext>
            </a:extLst>
          </p:cNvPr>
          <p:cNvSpPr/>
          <p:nvPr/>
        </p:nvSpPr>
        <p:spPr>
          <a:xfrm>
            <a:off x="304800" y="5943600"/>
            <a:ext cx="11582400" cy="609600"/>
          </a:xfrm>
          <a:prstGeom prst="round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rIns="1778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Closed-loop, compliant, self-improving: fix applied + verified, cross-linked audit trail (Jira + ServiceNow), and every resolution becomes future knowledge.</a:t>
            </a:r>
            <a:endParaRPr lang="en-IN" sz="1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130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86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1E4555D-1175-433B-8D76-3FAF6D5D8C35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c3158094-2f79-40b5-bc3c-9bae838c9ba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464</Words>
  <Application>Microsoft Office PowerPoint</Application>
  <PresentationFormat>Widescreen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Rana, Dewasheesh (Cognizant)</dc:creator>
  <cp:lastModifiedBy>Rana, Dewasheesh (Cognizant)</cp:lastModifiedBy>
  <cp:revision>3</cp:revision>
  <dcterms:created xsi:type="dcterms:W3CDTF">2026-07-01T09:17:47Z</dcterms:created>
  <dcterms:modified xsi:type="dcterms:W3CDTF">2026-07-01T09:41:09Z</dcterms:modified>
</cp:coreProperties>
</file>