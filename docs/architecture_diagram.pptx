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EA0C-310B-5829-7234-97A3352E3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BCDD2-D7DA-BE65-73B3-B4E17A39B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A07C5-5463-7E94-0139-D8A8ADAD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07DEF-02B4-A32F-16EA-B6B56FFB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0E2D-644D-1E0A-EB12-7D5642A1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8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540C-1DDC-8853-33A3-0C3E3302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6D67-18EB-6264-1BAF-88514E0C3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415D-A33F-6E71-CAB2-3BB0D08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08C44-B769-D2E2-1764-1ED48A2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ED87-7B76-F632-8018-DCB4B225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8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51A9-18FF-0D0A-5CCE-186353E6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65BDA-D399-1B93-8DE5-08DD6F65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549E0-4252-8C8D-D8BF-2D8CD726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54C5-CF6E-3264-BAFB-3F5A72FF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3D7FA-EB1F-F23C-901B-C32F084B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1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A7E9-3828-1AA3-E738-D9C98FBC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9256-D667-14F0-1F4C-189870423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CBADC-0BB2-B9BA-1A29-210E9DC25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055A2-1934-AB20-741A-0CDCB781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D2D56-2035-9FCB-3C6D-96764FE7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A6A1F-78F2-202D-D759-E95C1441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86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1D62-9A71-5E23-A37B-7CD89767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CB658-7DA0-FEBB-9127-60E75DB0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9A679-9C98-26A5-3CCF-E3F6BBAE9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BEF3A-96E7-8D67-4942-F5308320F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40163-C60B-3403-3FAB-3042D349A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D83F7-F3F8-2B7F-F730-3015A6CB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37591-427A-15FC-3082-382E405A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743BA-B7F5-6E69-C3EE-9A1DEDCF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0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F21D-E7AF-1DDA-42DA-85789684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5D975-C223-1222-2EA9-C0E6538E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C24D7-7C63-1DF9-C721-DF8E2ABF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6E995-7121-7FB3-60C1-6D935E38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5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693630-72CE-61BC-9315-4229BE71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1335B-F1FB-65B4-332D-350F3A48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B9B08-4985-7528-1C72-919AAD3A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0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B948-5EAF-22A4-E44A-94EB57DB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CFC8-19BF-657E-EB3E-7FD7A73FB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E96AA-4CF5-7B95-620D-E5C81F8C6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030C4-8718-94B3-0318-189042E9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CA1B8-B35A-5504-0ACB-EAA9F1AC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2739D-E9CB-9163-22E6-03DC2939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6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DEBC-0B10-392D-B497-5098B178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765A1-4558-F963-05FE-B23AA894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0A526-08DB-5BFD-D4E8-EBF0413C4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706F8-C1FA-B376-865D-D03DDB84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08C76-41D1-8A58-14BD-75357121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E0326-FB6F-07D5-AAA1-C945836E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23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4836-BFB4-B46C-26FF-837B4D18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CCC30-B795-9496-9F35-EDBBAE73E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0945-5B2D-F69F-AADA-F7E41306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F59FB-E737-2BA1-E504-FCB5E7D9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4DE34-CCBD-26CE-3C91-283CA41D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6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BB9BB-4A44-BCA8-3B76-AB109076A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22D0A-A488-B4AB-6F6E-7953CC68D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70268-3581-EAAD-9E53-BBD45E21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D8737-CFD0-6416-717B-FF00743C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17F26-9825-7E20-D3AA-3EB45596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0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9943D5-21BB-D0C7-867B-E9001B94D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ED5A9-41DB-FB6A-CED6-7EFF8BB5F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1E292-FBAD-2BF1-8130-F92BC7E6C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F3337-300C-491E-88A8-6B067AF3AB7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CB48C-699E-3FD8-467D-F61B79336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8D344-2B7C-5C1D-3DAA-D448FAC25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671E4-FB1C-412C-AD76-AFC67653C7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0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9640D-04BA-9A96-C3A8-AECC978E6F19}"/>
              </a:ext>
            </a:extLst>
          </p:cNvPr>
          <p:cNvSpPr txBox="1"/>
          <p:nvPr/>
        </p:nvSpPr>
        <p:spPr>
          <a:xfrm>
            <a:off x="381000" y="203200"/>
            <a:ext cx="1143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 b="1">
                <a:solidFill>
                  <a:srgbClr val="1F4E79"/>
                </a:solidFill>
                <a:latin typeface="Segoe UI Semibold" panose="020B0702040204020203" pitchFamily="34" charset="0"/>
              </a:rPr>
              <a:t>Process Mining - Multi-Source RCA   |   Architecture</a:t>
            </a:r>
            <a:endParaRPr lang="en-IN" sz="2200" b="1">
              <a:solidFill>
                <a:srgbClr val="1F4E79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FA3A9-B0DC-E861-324F-CD724CD9D8A9}"/>
              </a:ext>
            </a:extLst>
          </p:cNvPr>
          <p:cNvSpPr txBox="1"/>
          <p:nvPr/>
        </p:nvSpPr>
        <p:spPr>
          <a:xfrm>
            <a:off x="381000" y="8382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8828C"/>
                </a:solidFill>
                <a:latin typeface="Segoe UI" panose="020B0502040204020203" pitchFamily="34" charset="0"/>
              </a:rPr>
              <a:t>TELEMETRY SOURCES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41E952-69E6-9E6A-EF11-192C5E437423}"/>
              </a:ext>
            </a:extLst>
          </p:cNvPr>
          <p:cNvSpPr/>
          <p:nvPr/>
        </p:nvSpPr>
        <p:spPr>
          <a:xfrm>
            <a:off x="381000" y="1143000"/>
            <a:ext cx="2159000" cy="381000"/>
          </a:xfrm>
          <a:prstGeom prst="roundRect">
            <a:avLst/>
          </a:prstGeom>
          <a:solidFill>
            <a:srgbClr val="1C66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Appian  (x3)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F55F5E-1DAF-ABEF-83C8-874D80BDD4B0}"/>
              </a:ext>
            </a:extLst>
          </p:cNvPr>
          <p:cNvSpPr/>
          <p:nvPr/>
        </p:nvSpPr>
        <p:spPr>
          <a:xfrm>
            <a:off x="381000" y="1600200"/>
            <a:ext cx="2159000" cy="381000"/>
          </a:xfrm>
          <a:prstGeom prst="roundRect">
            <a:avLst/>
          </a:prstGeom>
          <a:solidFill>
            <a:srgbClr val="1C66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Mule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2B6298-14A5-9638-7BEA-DF8361C4998E}"/>
              </a:ext>
            </a:extLst>
          </p:cNvPr>
          <p:cNvSpPr/>
          <p:nvPr/>
        </p:nvSpPr>
        <p:spPr>
          <a:xfrm>
            <a:off x="381000" y="2057400"/>
            <a:ext cx="2159000" cy="381000"/>
          </a:xfrm>
          <a:prstGeom prst="roundRect">
            <a:avLst/>
          </a:prstGeom>
          <a:solidFill>
            <a:srgbClr val="1C66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Prometheus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CE3CA9-9626-B850-3C31-36F6BC33B426}"/>
              </a:ext>
            </a:extLst>
          </p:cNvPr>
          <p:cNvSpPr/>
          <p:nvPr/>
        </p:nvSpPr>
        <p:spPr>
          <a:xfrm>
            <a:off x="381000" y="2514600"/>
            <a:ext cx="2159000" cy="381000"/>
          </a:xfrm>
          <a:prstGeom prst="roundRect">
            <a:avLst/>
          </a:prstGeom>
          <a:solidFill>
            <a:srgbClr val="1C66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Fluentd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5A78D2-3374-8DF4-BED4-33CB0419E722}"/>
              </a:ext>
            </a:extLst>
          </p:cNvPr>
          <p:cNvSpPr/>
          <p:nvPr/>
        </p:nvSpPr>
        <p:spPr>
          <a:xfrm>
            <a:off x="3175000" y="1270000"/>
            <a:ext cx="2540000" cy="1905000"/>
          </a:xfrm>
          <a:prstGeom prst="roundRect">
            <a:avLst/>
          </a:prstGeom>
          <a:solidFill>
            <a:srgbClr val="1F9D5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TIER 1</a:t>
            </a:r>
          </a:p>
          <a:p>
            <a:pPr algn="ctr"/>
            <a:r>
              <a:rPr lang="en-IN" sz="1000">
                <a:solidFill>
                  <a:srgbClr val="FFFFFF"/>
                </a:solidFill>
                <a:latin typeface="Segoe UI" panose="020B0502040204020203" pitchFamily="34" charset="0"/>
              </a:rPr>
              <a:t>Ingest &amp; Detect</a:t>
            </a:r>
          </a:p>
          <a:p>
            <a:pPr algn="ctr"/>
            <a:endParaRPr lang="en-IN" sz="10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1000">
                <a:solidFill>
                  <a:srgbClr val="FFFFFF"/>
                </a:solidFill>
                <a:latin typeface="Segoe UI" panose="020B0502040204020203" pitchFamily="34" charset="0"/>
              </a:rPr>
              <a:t>Readers -&gt; Analyzers</a:t>
            </a:r>
          </a:p>
          <a:p>
            <a:pPr algn="ctr"/>
            <a:r>
              <a:rPr lang="en-IN" sz="1000">
                <a:solidFill>
                  <a:srgbClr val="FFFFFF"/>
                </a:solidFill>
                <a:latin typeface="Segoe UI" panose="020B0502040204020203" pitchFamily="34" charset="0"/>
              </a:rPr>
              <a:t>event_log -&gt; finding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6D43EC-0DA2-447A-FF85-9EAC094AD78B}"/>
              </a:ext>
            </a:extLst>
          </p:cNvPr>
          <p:cNvSpPr/>
          <p:nvPr/>
        </p:nvSpPr>
        <p:spPr>
          <a:xfrm>
            <a:off x="6096000" y="1270000"/>
            <a:ext cx="2540000" cy="190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500" b="1">
                <a:solidFill>
                  <a:srgbClr val="FFFFFF"/>
                </a:solidFill>
                <a:latin typeface="Segoe UI" panose="020B0502040204020203" pitchFamily="34" charset="0"/>
              </a:rPr>
              <a:t>TIER 2</a:t>
            </a:r>
          </a:p>
          <a:p>
            <a:pPr algn="ctr"/>
            <a:r>
              <a:rPr lang="fr-FR" sz="1000">
                <a:solidFill>
                  <a:srgbClr val="FFFFFF"/>
                </a:solidFill>
                <a:latin typeface="Segoe UI" panose="020B0502040204020203" pitchFamily="34" charset="0"/>
              </a:rPr>
              <a:t>Correlate &amp; Diagnose</a:t>
            </a:r>
          </a:p>
          <a:p>
            <a:pPr algn="ctr"/>
            <a:endParaRPr lang="fr-FR" sz="10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/>
            <a:r>
              <a:rPr lang="fr-FR" sz="1000">
                <a:solidFill>
                  <a:srgbClr val="FFFFFF"/>
                </a:solidFill>
                <a:latin typeface="Segoe UI" panose="020B0502040204020203" pitchFamily="34" charset="0"/>
              </a:rPr>
              <a:t>Grouper -&gt; Incident</a:t>
            </a:r>
          </a:p>
          <a:p>
            <a:pPr algn="ctr"/>
            <a:r>
              <a:rPr lang="fr-FR" sz="1000">
                <a:solidFill>
                  <a:srgbClr val="FFFFFF"/>
                </a:solidFill>
                <a:latin typeface="Segoe UI" panose="020B0502040204020203" pitchFamily="34" charset="0"/>
              </a:rPr>
              <a:t>LLM RCA</a:t>
            </a:r>
          </a:p>
          <a:p>
            <a:pPr algn="ctr"/>
            <a:r>
              <a:rPr lang="fr-FR" sz="1000">
                <a:solidFill>
                  <a:srgbClr val="FFFFFF"/>
                </a:solidFill>
                <a:latin typeface="Segoe UI" panose="020B0502040204020203" pitchFamily="34" charset="0"/>
              </a:rPr>
              <a:t>root_cause_report</a:t>
            </a:r>
            <a:endParaRPr lang="en-IN" sz="10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E995A4-9996-6522-BF25-0E8F3DB133D2}"/>
              </a:ext>
            </a:extLst>
          </p:cNvPr>
          <p:cNvSpPr/>
          <p:nvPr/>
        </p:nvSpPr>
        <p:spPr>
          <a:xfrm>
            <a:off x="9017000" y="1270000"/>
            <a:ext cx="2540000" cy="1905000"/>
          </a:xfrm>
          <a:prstGeom prst="roundRect">
            <a:avLst/>
          </a:prstGeom>
          <a:solidFill>
            <a:srgbClr val="D6336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TIER 3</a:t>
            </a:r>
          </a:p>
          <a:p>
            <a:pPr algn="ctr"/>
            <a:r>
              <a:rPr lang="en-US" sz="1000">
                <a:solidFill>
                  <a:srgbClr val="FFFFFF"/>
                </a:solidFill>
                <a:latin typeface="Segoe UI" panose="020B0502040204020203" pitchFamily="34" charset="0"/>
              </a:rPr>
              <a:t>Remediate (human-gated)</a:t>
            </a:r>
          </a:p>
          <a:p>
            <a:pPr algn="ctr"/>
            <a:endParaRPr lang="en-US" sz="10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1000">
                <a:solidFill>
                  <a:srgbClr val="FFFFFF"/>
                </a:solidFill>
                <a:latin typeface="Segoe UI" panose="020B0502040204020203" pitchFamily="34" charset="0"/>
              </a:rPr>
              <a:t>LangGraph:</a:t>
            </a:r>
          </a:p>
          <a:p>
            <a:pPr algn="ctr"/>
            <a:r>
              <a:rPr lang="en-US" sz="1000">
                <a:solidFill>
                  <a:srgbClr val="FFFFFF"/>
                </a:solidFill>
                <a:latin typeface="Segoe UI" panose="020B0502040204020203" pitchFamily="34" charset="0"/>
              </a:rPr>
              <a:t>validate-execute-verify</a:t>
            </a:r>
            <a:endParaRPr lang="en-IN" sz="10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2E924-CE3E-B6D8-E596-3DCBCA63F283}"/>
              </a:ext>
            </a:extLst>
          </p:cNvPr>
          <p:cNvSpPr txBox="1"/>
          <p:nvPr/>
        </p:nvSpPr>
        <p:spPr>
          <a:xfrm>
            <a:off x="381000" y="4724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8828C"/>
                </a:solidFill>
                <a:latin typeface="Segoe UI" panose="020B0502040204020203" pitchFamily="34" charset="0"/>
              </a:rPr>
              <a:t>EXTERNAL SYSTEMS &amp; STORES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38D616-44F6-F823-2E6D-B435C465E3CA}"/>
              </a:ext>
            </a:extLst>
          </p:cNvPr>
          <p:cNvSpPr/>
          <p:nvPr/>
        </p:nvSpPr>
        <p:spPr>
          <a:xfrm>
            <a:off x="381000" y="5029200"/>
            <a:ext cx="2540000" cy="558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historical_incident</a:t>
            </a:r>
          </a:p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(precedent memory)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1B75A2-B366-E311-E97A-7D0FCBE29C00}"/>
              </a:ext>
            </a:extLst>
          </p:cNvPr>
          <p:cNvSpPr/>
          <p:nvPr/>
        </p:nvSpPr>
        <p:spPr>
          <a:xfrm>
            <a:off x="3175000" y="5029200"/>
            <a:ext cx="2540000" cy="558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Azure OpenAI</a:t>
            </a:r>
          </a:p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(diagnosis)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4E0FC3-018C-7998-F95F-44297A2E8ACF}"/>
              </a:ext>
            </a:extLst>
          </p:cNvPr>
          <p:cNvSpPr/>
          <p:nvPr/>
        </p:nvSpPr>
        <p:spPr>
          <a:xfrm>
            <a:off x="6096000" y="5029200"/>
            <a:ext cx="2540000" cy="558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ServiceNow</a:t>
            </a:r>
          </a:p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(tickets)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8A8C39-E251-AF91-20B5-B76562513B5F}"/>
              </a:ext>
            </a:extLst>
          </p:cNvPr>
          <p:cNvSpPr/>
          <p:nvPr/>
        </p:nvSpPr>
        <p:spPr>
          <a:xfrm>
            <a:off x="9017000" y="5029200"/>
            <a:ext cx="2540000" cy="558800"/>
          </a:xfrm>
          <a:prstGeom prst="round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Streamlit UI</a:t>
            </a:r>
          </a:p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(operator)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52A2B4-0918-3F00-1162-A8466514A6FA}"/>
              </a:ext>
            </a:extLst>
          </p:cNvPr>
          <p:cNvCxnSpPr/>
          <p:nvPr/>
        </p:nvCxnSpPr>
        <p:spPr>
          <a:xfrm>
            <a:off x="2540000" y="2222500"/>
            <a:ext cx="635000" cy="0"/>
          </a:xfrm>
          <a:prstGeom prst="line">
            <a:avLst/>
          </a:prstGeom>
          <a:ln w="25400">
            <a:solidFill>
              <a:srgbClr val="1F4E7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F98153-0056-406C-A271-9E1AA754E720}"/>
              </a:ext>
            </a:extLst>
          </p:cNvPr>
          <p:cNvCxnSpPr/>
          <p:nvPr/>
        </p:nvCxnSpPr>
        <p:spPr>
          <a:xfrm>
            <a:off x="5715000" y="2222500"/>
            <a:ext cx="381000" cy="0"/>
          </a:xfrm>
          <a:prstGeom prst="line">
            <a:avLst/>
          </a:prstGeom>
          <a:ln w="25400">
            <a:solidFill>
              <a:srgbClr val="1F4E7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FC8916-E6AF-3344-A752-4AA3AE9C4CA3}"/>
              </a:ext>
            </a:extLst>
          </p:cNvPr>
          <p:cNvCxnSpPr/>
          <p:nvPr/>
        </p:nvCxnSpPr>
        <p:spPr>
          <a:xfrm>
            <a:off x="8636000" y="2222500"/>
            <a:ext cx="381000" cy="0"/>
          </a:xfrm>
          <a:prstGeom prst="line">
            <a:avLst/>
          </a:prstGeom>
          <a:ln w="25400">
            <a:solidFill>
              <a:srgbClr val="1F4E79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FF852F-4648-05D8-0DA5-937723B15A58}"/>
              </a:ext>
            </a:extLst>
          </p:cNvPr>
          <p:cNvCxnSpPr/>
          <p:nvPr/>
        </p:nvCxnSpPr>
        <p:spPr>
          <a:xfrm flipV="1">
            <a:off x="1651000" y="3175000"/>
            <a:ext cx="4889500" cy="1854200"/>
          </a:xfrm>
          <a:prstGeom prst="line">
            <a:avLst/>
          </a:prstGeom>
          <a:ln w="25400">
            <a:solidFill>
              <a:srgbClr val="7C3AED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5D1F5E-A74C-3A90-E08B-7D88B3CBC632}"/>
              </a:ext>
            </a:extLst>
          </p:cNvPr>
          <p:cNvSpPr txBox="1"/>
          <p:nvPr/>
        </p:nvSpPr>
        <p:spPr>
          <a:xfrm>
            <a:off x="2540000" y="4038600"/>
            <a:ext cx="215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C3AED"/>
                </a:solidFill>
                <a:latin typeface="Segoe UI" panose="020B0502040204020203" pitchFamily="34" charset="0"/>
              </a:rPr>
              <a:t>precedent &gt;= 0.60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101B1B-3313-5F7E-EF0A-10F66111943D}"/>
              </a:ext>
            </a:extLst>
          </p:cNvPr>
          <p:cNvCxnSpPr/>
          <p:nvPr/>
        </p:nvCxnSpPr>
        <p:spPr>
          <a:xfrm flipV="1">
            <a:off x="4445000" y="3175000"/>
            <a:ext cx="2667000" cy="1854200"/>
          </a:xfrm>
          <a:prstGeom prst="line">
            <a:avLst/>
          </a:prstGeom>
          <a:ln w="25400">
            <a:solidFill>
              <a:srgbClr val="7C3AED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F1EA55-D855-B8D0-FD51-74E5BAFBDED7}"/>
              </a:ext>
            </a:extLst>
          </p:cNvPr>
          <p:cNvSpPr txBox="1"/>
          <p:nvPr/>
        </p:nvSpPr>
        <p:spPr>
          <a:xfrm>
            <a:off x="5207000" y="4368800"/>
            <a:ext cx="1651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C3AED"/>
                </a:solidFill>
                <a:latin typeface="Segoe UI" panose="020B0502040204020203" pitchFamily="34" charset="0"/>
              </a:rPr>
              <a:t>LLM (diagnose)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BC3054-D460-4301-10BE-A997FABE8568}"/>
              </a:ext>
            </a:extLst>
          </p:cNvPr>
          <p:cNvCxnSpPr/>
          <p:nvPr/>
        </p:nvCxnSpPr>
        <p:spPr>
          <a:xfrm flipH="1">
            <a:off x="7429500" y="3175000"/>
            <a:ext cx="317500" cy="1854200"/>
          </a:xfrm>
          <a:prstGeom prst="line">
            <a:avLst/>
          </a:prstGeom>
          <a:ln w="25400">
            <a:solidFill>
              <a:srgbClr val="7C3AED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DDC71F6-BB4A-1EDE-2AFF-641F8D4F2BFC}"/>
              </a:ext>
            </a:extLst>
          </p:cNvPr>
          <p:cNvSpPr txBox="1"/>
          <p:nvPr/>
        </p:nvSpPr>
        <p:spPr>
          <a:xfrm>
            <a:off x="7620000" y="4038600"/>
            <a:ext cx="1651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C3AED"/>
                </a:solidFill>
                <a:latin typeface="Segoe UI" panose="020B0502040204020203" pitchFamily="34" charset="0"/>
              </a:rPr>
              <a:t>file ticket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42865F-AFF9-1249-51B4-C79ECADEAB60}"/>
              </a:ext>
            </a:extLst>
          </p:cNvPr>
          <p:cNvCxnSpPr/>
          <p:nvPr/>
        </p:nvCxnSpPr>
        <p:spPr>
          <a:xfrm flipV="1">
            <a:off x="10160000" y="3175000"/>
            <a:ext cx="0" cy="1854200"/>
          </a:xfrm>
          <a:prstGeom prst="line">
            <a:avLst/>
          </a:prstGeom>
          <a:ln w="25400">
            <a:solidFill>
              <a:srgbClr val="7C3AED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D9297B-118E-818F-606D-FCC847A30C65}"/>
              </a:ext>
            </a:extLst>
          </p:cNvPr>
          <p:cNvSpPr txBox="1"/>
          <p:nvPr/>
        </p:nvSpPr>
        <p:spPr>
          <a:xfrm>
            <a:off x="9461500" y="4038600"/>
            <a:ext cx="15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900" i="1">
                <a:solidFill>
                  <a:srgbClr val="7C3AED"/>
                </a:solidFill>
                <a:latin typeface="Segoe UI" panose="020B0502040204020203" pitchFamily="34" charset="0"/>
              </a:rPr>
              <a:t>approve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022D6B-8403-9935-4A6F-C9B093529D9D}"/>
              </a:ext>
            </a:extLst>
          </p:cNvPr>
          <p:cNvCxnSpPr>
            <a:cxnSpLocks/>
          </p:cNvCxnSpPr>
          <p:nvPr/>
        </p:nvCxnSpPr>
        <p:spPr>
          <a:xfrm flipH="1">
            <a:off x="1753386" y="5689600"/>
            <a:ext cx="5358614" cy="25400"/>
          </a:xfrm>
          <a:prstGeom prst="line">
            <a:avLst/>
          </a:prstGeom>
          <a:ln w="25400">
            <a:solidFill>
              <a:srgbClr val="78828C"/>
            </a:solidFill>
            <a:prstDash val="das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B45D86-96EC-38C3-112A-C1DC19285326}"/>
              </a:ext>
            </a:extLst>
          </p:cNvPr>
          <p:cNvSpPr txBox="1"/>
          <p:nvPr/>
        </p:nvSpPr>
        <p:spPr>
          <a:xfrm>
            <a:off x="3048000" y="5750867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i="1" dirty="0">
                <a:solidFill>
                  <a:srgbClr val="78828C"/>
                </a:solidFill>
                <a:latin typeface="Segoe UI" panose="020B0502040204020203" pitchFamily="34" charset="0"/>
              </a:rPr>
              <a:t>nightly sync of resolved -&gt; memory</a:t>
            </a:r>
            <a:endParaRPr lang="en-IN" sz="900" i="1" dirty="0">
              <a:solidFill>
                <a:srgbClr val="78828C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43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2</cp:revision>
  <dcterms:created xsi:type="dcterms:W3CDTF">2026-06-23T07:32:14Z</dcterms:created>
  <dcterms:modified xsi:type="dcterms:W3CDTF">2026-06-23T07:34:16Z</dcterms:modified>
</cp:coreProperties>
</file>