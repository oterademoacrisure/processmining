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8" r:id="rId4"/>
    <p:sldId id="269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2" y="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A4C3-C39A-9D6D-40EA-D96ED206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EC275-D897-D96B-EFA5-941905B6D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3DE4-862C-A4E2-6EC5-70BF5630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BE5B-09C2-A5F4-E6F2-770CA9AA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7B124-625F-CE86-59CC-411D269E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7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986-1B08-F9C0-3C47-1662CC4E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4BA4-B203-F8C6-980D-381F39FA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2E07C-0331-B2A4-D667-377C2D9B9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38E77-E5FE-2A79-D2EB-3AC1AB4F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8EB84-EE61-3CC8-3639-5224C312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7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9D09-ED9A-1405-6406-4C65D0D9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04E4D-2EA2-A041-7205-17678779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D3D87-36B4-26AC-8BDF-11F576C2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E801F-AA50-4E2E-4B0E-96DA96C6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B6358-A369-B3BE-364D-E588474C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67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9728-99A4-032D-5F71-31346542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68D6-BC17-8F2F-14C1-F73E6F41B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72E5A-AFC0-52A9-E130-D52C3F7DF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9C7CB-9F62-1409-6C0C-27EC54C4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65140-95D3-22B3-FFB0-EB5FABA5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2D4CD-C194-DE5B-A5B7-BC0802ED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06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AE58-F8C9-D80B-DE4E-7C298AE1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57649-CD2C-83F8-E86E-A05170ED7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E5E21-D116-4C6C-6F73-B9975323E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737CD-1867-31D2-774A-44730FAFC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49B0C-E952-155C-93FA-611062460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2346E-E80A-3EE5-446B-C5B9C042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8D1E2-1826-C2F4-7F96-363159B8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78085-8065-934B-1D75-86CFCED2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13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1F8B-C908-99C8-DA57-D2C36E0E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B7D86-3A69-B2BA-6E86-A709A2B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B0CF7-4E73-E697-1168-7A874C1C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F0FBD-4105-2D0F-D296-EBD153F5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6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8301B0-93DC-DFC2-E33E-4E7644BC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61C87-425D-CCBE-EF22-70AD4E90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3F9B9-C605-D340-2354-9884186C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00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210B-AAD7-91C7-B7CB-3E04311D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67C2B-C7DA-5B78-8DCE-A478F841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A2C89-026F-B1B0-1045-8532ACC79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1EFF0-4414-9721-2D4E-FB7FC406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6804-2395-A315-C63F-818133F7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9C9F9-FA02-7EFB-1C62-089DC48E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27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D531-55BB-8CB6-1E75-0FB32547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B5185-8040-CFD2-F90A-B78B29C09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B8467-82AA-513D-B447-CD796B102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A490C-E0CB-DD4A-E094-5134683F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E4D0A-7ABD-333A-9826-FFA60A58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29BC-851C-1635-1FB3-A4F6244B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D925-5013-7FBB-9058-6A6B5DA6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BE1D7-2A80-ABB3-3926-E701BCDBE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6617-91DF-369D-AEB1-6C351209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DDB72-BF25-EC43-44B5-C080308C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00D06-CC08-1766-0FD0-F05EA777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27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741EE-AD9E-D834-6511-374AD0B65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E8586-73AF-B1AE-CEFA-C2A2E181D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9FD6-0310-E8B2-FFD3-97BF4CD1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B78A-49DF-1A27-F6FC-62EC134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0D31E-773B-9527-D22F-D57F7B91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79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913C1-605B-7279-132E-C97CF366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8F062-0C8C-C3F1-92EC-2D17EC3F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C54CB-D725-D4A2-1317-7DF02251B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925B6-0DF1-4B22-B5C2-38FECE7134E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A1F0B-1F58-9795-CF53-4DE46018D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2CFF2-17AD-645B-3214-65907437E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7E7C9-58B0-4625-9B42-AE518051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663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CAD1A3-54BD-CFAE-5113-22B70B11E7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24BED-1D4D-CBD9-A1CB-96AB124D1629}"/>
              </a:ext>
            </a:extLst>
          </p:cNvPr>
          <p:cNvSpPr txBox="1"/>
          <p:nvPr/>
        </p:nvSpPr>
        <p:spPr>
          <a:xfrm>
            <a:off x="762000" y="2260600"/>
            <a:ext cx="1066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Cold Chain Sense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9EE47-96A3-0E14-B1A8-F7A610422D74}"/>
              </a:ext>
            </a:extLst>
          </p:cNvPr>
          <p:cNvSpPr txBox="1"/>
          <p:nvPr/>
        </p:nvSpPr>
        <p:spPr>
          <a:xfrm>
            <a:off x="762000" y="33274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i="1" dirty="0">
                <a:solidFill>
                  <a:srgbClr val="D6DBDF"/>
                </a:solidFill>
              </a:rPr>
              <a:t>When the freezer fails at 65 mph — an IoT + agentic response, against the clock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6346A-9C5D-21BD-2394-20DE7EF17C26}"/>
              </a:ext>
            </a:extLst>
          </p:cNvPr>
          <p:cNvSpPr txBox="1"/>
          <p:nvPr/>
        </p:nvSpPr>
        <p:spPr>
          <a:xfrm>
            <a:off x="762000" y="41910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 dirty="0">
                <a:solidFill>
                  <a:srgbClr val="FFFFFF"/>
                </a:solidFill>
              </a:rPr>
              <a:t>A truckload of ice cream.  Cincinnati → Columbus.  </a:t>
            </a:r>
            <a:r>
              <a:rPr lang="en-US" sz="2200" b="1" dirty="0">
                <a:solidFill>
                  <a:srgbClr val="5DADE2"/>
                </a:solidFill>
              </a:rPr>
              <a:t>90 minutes to save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660D5-F016-86F5-9993-70BD3E9668EF}"/>
              </a:ext>
            </a:extLst>
          </p:cNvPr>
          <p:cNvSpPr txBox="1"/>
          <p:nvPr/>
        </p:nvSpPr>
        <p:spPr>
          <a:xfrm>
            <a:off x="762000" y="6019800"/>
            <a:ext cx="1066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i="1" dirty="0">
                <a:solidFill>
                  <a:srgbClr val="AEB6BD"/>
                </a:solidFill>
              </a:rPr>
              <a:t>Every minute the cargo warms — this is how the system races the clock and keeps the business in the loop.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5005E5-99E7-410C-8EFF-9FE3B4479592}"/>
              </a:ext>
            </a:extLst>
          </p:cNvPr>
          <p:cNvSpPr/>
          <p:nvPr/>
        </p:nvSpPr>
        <p:spPr>
          <a:xfrm>
            <a:off x="762000" y="2006600"/>
            <a:ext cx="1143000" cy="63500"/>
          </a:xfrm>
          <a:prstGeom prst="rect">
            <a:avLst/>
          </a:prstGeom>
          <a:solidFill>
            <a:srgbClr val="2E86C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49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BABCB-21E8-C84C-B0DB-B29491A76701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F2AF3-F6B3-DA10-591F-F364A36DF0F3}"/>
              </a:ext>
            </a:extLst>
          </p:cNvPr>
          <p:cNvSpPr txBox="1"/>
          <p:nvPr/>
        </p:nvSpPr>
        <p:spPr>
          <a:xfrm>
            <a:off x="304800" y="114300"/>
            <a:ext cx="11582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The setup — what’s on the truck, and what’s at risk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800F27-F466-BB02-E747-4C99F2226835}"/>
              </a:ext>
            </a:extLst>
          </p:cNvPr>
          <p:cNvSpPr/>
          <p:nvPr/>
        </p:nvSpPr>
        <p:spPr>
          <a:xfrm>
            <a:off x="508000" y="1226627"/>
            <a:ext cx="5461000" cy="37338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DE80C-CC6B-64C6-42F8-111CF3EE6756}"/>
              </a:ext>
            </a:extLst>
          </p:cNvPr>
          <p:cNvSpPr txBox="1"/>
          <p:nvPr/>
        </p:nvSpPr>
        <p:spPr>
          <a:xfrm>
            <a:off x="787400" y="1244600"/>
            <a:ext cx="49022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The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426C5-A380-FE59-9C46-E5C1B35C151F}"/>
              </a:ext>
            </a:extLst>
          </p:cNvPr>
          <p:cNvSpPr txBox="1"/>
          <p:nvPr/>
        </p:nvSpPr>
        <p:spPr>
          <a:xfrm>
            <a:off x="787400" y="1803400"/>
            <a:ext cx="4902200" cy="24024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US" sz="2000" dirty="0">
                <a:solidFill>
                  <a:srgbClr val="FFFFFF"/>
                </a:solidFill>
              </a:rPr>
              <a:t>A </a:t>
            </a:r>
            <a:r>
              <a:rPr lang="en-US" sz="2000">
                <a:solidFill>
                  <a:srgbClr val="FFFFFF"/>
                </a:solidFill>
              </a:rPr>
              <a:t>refrigerated  </a:t>
            </a:r>
            <a:r>
              <a:rPr lang="en-US" sz="2000" dirty="0">
                <a:solidFill>
                  <a:srgbClr val="FFFFFF"/>
                </a:solidFill>
              </a:rPr>
              <a:t>truck leaves the Cincinnati DC for a Target store in Columbus — ≈100 miles, ≈2 hours.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US" sz="2000" dirty="0">
                <a:solidFill>
                  <a:srgbClr val="FFFFFF"/>
                </a:solidFill>
              </a:rPr>
              <a:t>Cargo: a full load of </a:t>
            </a:r>
            <a:r>
              <a:rPr lang="en-US" sz="2000" b="1" dirty="0">
                <a:solidFill>
                  <a:srgbClr val="FFFFFF"/>
                </a:solidFill>
              </a:rPr>
              <a:t>ice cream</a:t>
            </a:r>
            <a:r>
              <a:rPr lang="en-US" sz="2000" dirty="0">
                <a:solidFill>
                  <a:srgbClr val="FFFFFF"/>
                </a:solidFill>
              </a:rPr>
              <a:t> — must stay frozen at </a:t>
            </a:r>
            <a:r>
              <a:rPr lang="en-US" sz="2000" b="1" dirty="0">
                <a:solidFill>
                  <a:srgbClr val="FFFFFF"/>
                </a:solidFill>
              </a:rPr>
              <a:t>−18 °C</a:t>
            </a:r>
            <a:r>
              <a:rPr lang="en-US" sz="2000" dirty="0">
                <a:solidFill>
                  <a:srgbClr val="FFFFFF"/>
                </a:solidFill>
              </a:rPr>
              <a:t> or below the whole way.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C0F3A9-09F2-237D-824A-FACB55BEBCBF}"/>
              </a:ext>
            </a:extLst>
          </p:cNvPr>
          <p:cNvSpPr/>
          <p:nvPr/>
        </p:nvSpPr>
        <p:spPr>
          <a:xfrm>
            <a:off x="6248400" y="1235776"/>
            <a:ext cx="5461000" cy="3776945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D5F87-B9CC-031D-0003-6C54DE234FB4}"/>
              </a:ext>
            </a:extLst>
          </p:cNvPr>
          <p:cNvSpPr txBox="1"/>
          <p:nvPr/>
        </p:nvSpPr>
        <p:spPr>
          <a:xfrm>
            <a:off x="6502400" y="1244600"/>
            <a:ext cx="4902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What’s at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832B8-38D0-DDFE-13A2-052AF0B1735E}"/>
              </a:ext>
            </a:extLst>
          </p:cNvPr>
          <p:cNvSpPr txBox="1"/>
          <p:nvPr/>
        </p:nvSpPr>
        <p:spPr>
          <a:xfrm>
            <a:off x="6502400" y="1706265"/>
            <a:ext cx="4902200" cy="28359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lang="en-US" sz="1900" dirty="0">
                <a:solidFill>
                  <a:srgbClr val="FFFFFF"/>
                </a:solidFill>
              </a:rPr>
              <a:t>Ice cream is brutally sensitive — even a short warm-up drives melt → refreeze → ice crystals → grainy product.</a:t>
            </a:r>
          </a:p>
          <a:p>
            <a:pPr marL="228600" indent="-22860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</a:rPr>
              <a:t>→  The load can be rejected or destroyed</a:t>
            </a:r>
          </a:p>
          <a:p>
            <a:pPr marL="228600" indent="-22860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</a:rPr>
              <a:t>→  Store stockout and missed delivery</a:t>
            </a:r>
          </a:p>
          <a:p>
            <a:pPr marL="228600" indent="-22860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</a:rPr>
              <a:t>→  Brand and food-safety exposure</a:t>
            </a:r>
          </a:p>
          <a:p>
            <a:pPr marL="228600" indent="-22860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900" dirty="0">
                <a:solidFill>
                  <a:srgbClr val="FFFFFF"/>
                </a:solidFill>
              </a:rPr>
              <a:t>→  Full-truck financial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7620C-12CD-C90E-DB36-31E97CD7FDC9}"/>
              </a:ext>
            </a:extLst>
          </p:cNvPr>
          <p:cNvSpPr txBox="1"/>
          <p:nvPr/>
        </p:nvSpPr>
        <p:spPr>
          <a:xfrm>
            <a:off x="508000" y="5715000"/>
            <a:ext cx="1117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i="1" dirty="0">
                <a:solidFill>
                  <a:srgbClr val="1B4F72"/>
                </a:solidFill>
              </a:rPr>
              <a:t>Context: cold-chain failures are a major driver of US food waste every year. One warm truck is real money — and a real clock.</a:t>
            </a:r>
          </a:p>
        </p:txBody>
      </p:sp>
    </p:spTree>
    <p:extLst>
      <p:ext uri="{BB962C8B-B14F-4D97-AF65-F5344CB8AC3E}">
        <p14:creationId xmlns:p14="http://schemas.microsoft.com/office/powerpoint/2010/main" val="402512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1BA8F5-791D-1527-9667-B9BEFCD3F38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FD83B-A3EF-5CC6-6EDD-F39FF6BD0160}"/>
              </a:ext>
            </a:extLst>
          </p:cNvPr>
          <p:cNvSpPr txBox="1"/>
          <p:nvPr/>
        </p:nvSpPr>
        <p:spPr>
          <a:xfrm>
            <a:off x="304800" y="114300"/>
            <a:ext cx="11582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The incident — the clock starts now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9AC3A-70F5-E43B-7F72-0833343C657C}"/>
              </a:ext>
            </a:extLst>
          </p:cNvPr>
          <p:cNvSpPr txBox="1"/>
          <p:nvPr/>
        </p:nvSpPr>
        <p:spPr>
          <a:xfrm>
            <a:off x="508000" y="1347857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 dirty="0">
                <a:solidFill>
                  <a:srgbClr val="1B4F72"/>
                </a:solidFill>
              </a:rPr>
              <a:t>Mid-route, an IoT temperature sensor on the reefer detects the cargo warming past its safe threshold.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6EFDC-84EB-EAE6-F0CF-F18AC65167B1}"/>
              </a:ext>
            </a:extLst>
          </p:cNvPr>
          <p:cNvSpPr/>
          <p:nvPr/>
        </p:nvSpPr>
        <p:spPr>
          <a:xfrm>
            <a:off x="508000" y="2286000"/>
            <a:ext cx="7112000" cy="914400"/>
          </a:xfrm>
          <a:prstGeom prst="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9D376-76B5-BE5A-88EE-6F0063781DF1}"/>
              </a:ext>
            </a:extLst>
          </p:cNvPr>
          <p:cNvSpPr txBox="1"/>
          <p:nvPr/>
        </p:nvSpPr>
        <p:spPr>
          <a:xfrm>
            <a:off x="812800" y="2286000"/>
            <a:ext cx="6604000" cy="9144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FIX WINDOW</a:t>
            </a:r>
            <a:r>
              <a:rPr lang="en-US" sz="1600" dirty="0">
                <a:solidFill>
                  <a:srgbClr val="FFFFFF"/>
                </a:solidFill>
              </a:rPr>
              <a:t>  ·  0–60 minutes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FC2F69-78C6-02ED-1BD2-6DAF1C3C3379}"/>
              </a:ext>
            </a:extLst>
          </p:cNvPr>
          <p:cNvSpPr/>
          <p:nvPr/>
        </p:nvSpPr>
        <p:spPr>
          <a:xfrm>
            <a:off x="7620000" y="2286000"/>
            <a:ext cx="3556000" cy="9144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8BD6F-1DE9-E332-B358-ECA9C51C725D}"/>
              </a:ext>
            </a:extLst>
          </p:cNvPr>
          <p:cNvSpPr txBox="1"/>
          <p:nvPr/>
        </p:nvSpPr>
        <p:spPr>
          <a:xfrm>
            <a:off x="7823200" y="2286000"/>
            <a:ext cx="3149600" cy="9144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LOSS ZONE</a:t>
            </a:r>
            <a:r>
              <a:rPr lang="en-US" sz="1600" dirty="0">
                <a:solidFill>
                  <a:srgbClr val="FFFFFF"/>
                </a:solidFill>
              </a:rPr>
              <a:t>  ·  60–90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5C61D-3FFB-BD44-B9D8-971A1811E2CE}"/>
              </a:ext>
            </a:extLst>
          </p:cNvPr>
          <p:cNvSpPr txBox="1"/>
          <p:nvPr/>
        </p:nvSpPr>
        <p:spPr>
          <a:xfrm>
            <a:off x="508000" y="3327400"/>
            <a:ext cx="1778000" cy="3048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en-US" sz="1500" b="1" dirty="0">
                <a:solidFill>
                  <a:srgbClr val="1B4F72"/>
                </a:solidFill>
              </a:rPr>
              <a:t>0 min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25C12-5C8D-01F8-BE75-4BE9ECBBF41B}"/>
              </a:ext>
            </a:extLst>
          </p:cNvPr>
          <p:cNvSpPr txBox="1"/>
          <p:nvPr/>
        </p:nvSpPr>
        <p:spPr>
          <a:xfrm>
            <a:off x="6858000" y="3327400"/>
            <a:ext cx="1524000" cy="3048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1E8449"/>
                </a:solidFill>
              </a:rPr>
              <a:t>60 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53E51-7A51-62E8-B86B-AB6378F2A58E}"/>
              </a:ext>
            </a:extLst>
          </p:cNvPr>
          <p:cNvSpPr txBox="1"/>
          <p:nvPr/>
        </p:nvSpPr>
        <p:spPr>
          <a:xfrm>
            <a:off x="9652000" y="3327400"/>
            <a:ext cx="1524000" cy="3048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500" b="1" dirty="0">
                <a:solidFill>
                  <a:srgbClr val="C0392B"/>
                </a:solidFill>
              </a:rPr>
              <a:t>90 min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5FF33-9D24-A993-57F6-AD87A8706AF7}"/>
              </a:ext>
            </a:extLst>
          </p:cNvPr>
          <p:cNvSpPr txBox="1"/>
          <p:nvPr/>
        </p:nvSpPr>
        <p:spPr>
          <a:xfrm>
            <a:off x="508000" y="4267200"/>
            <a:ext cx="11176000" cy="3881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1B4F72"/>
                </a:solidFill>
              </a:rPr>
              <a:t>90 minutes of total tolerance before the load is lost. </a:t>
            </a:r>
            <a:r>
              <a:rPr lang="en-US" sz="1700" dirty="0">
                <a:solidFill>
                  <a:srgbClr val="1B4F72"/>
                </a:solidFill>
              </a:rPr>
              <a:t>Target: resolve within 60 minutes — if not, replace and escalate.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A50F8-3B68-9A97-8142-05C38B4DD9B5}"/>
              </a:ext>
            </a:extLst>
          </p:cNvPr>
          <p:cNvSpPr txBox="1"/>
          <p:nvPr/>
        </p:nvSpPr>
        <p:spPr>
          <a:xfrm>
            <a:off x="508000" y="6019800"/>
            <a:ext cx="1117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i="1" dirty="0">
                <a:solidFill>
                  <a:srgbClr val="34495E"/>
                </a:solidFill>
              </a:rPr>
              <a:t>The tension is real — the obstacle is a genuinely perishable, high-value load with a hard deadline.</a:t>
            </a:r>
          </a:p>
        </p:txBody>
      </p:sp>
    </p:spTree>
    <p:extLst>
      <p:ext uri="{BB962C8B-B14F-4D97-AF65-F5344CB8AC3E}">
        <p14:creationId xmlns:p14="http://schemas.microsoft.com/office/powerpoint/2010/main" val="166604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DE02B-A01B-CB3C-4E1C-ED7F4966465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85296-CD19-5AA7-06CD-2AEE3728D373}"/>
              </a:ext>
            </a:extLst>
          </p:cNvPr>
          <p:cNvSpPr txBox="1"/>
          <p:nvPr/>
        </p:nvSpPr>
        <p:spPr>
          <a:xfrm>
            <a:off x="304800" y="114300"/>
            <a:ext cx="11582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The agentic response — inform, accept, reach, close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DC915E-15D1-3D4D-6DBB-58BE5E80AB07}"/>
              </a:ext>
            </a:extLst>
          </p:cNvPr>
          <p:cNvSpPr/>
          <p:nvPr/>
        </p:nvSpPr>
        <p:spPr>
          <a:xfrm>
            <a:off x="508000" y="1168400"/>
            <a:ext cx="2603500" cy="19812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94958-6070-D896-4E65-280F945EF2C2}"/>
              </a:ext>
            </a:extLst>
          </p:cNvPr>
          <p:cNvSpPr txBox="1"/>
          <p:nvPr/>
        </p:nvSpPr>
        <p:spPr>
          <a:xfrm>
            <a:off x="685800" y="1371600"/>
            <a:ext cx="22479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1 · Inform 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511B9-B86B-627F-6859-01EED2F63DE4}"/>
              </a:ext>
            </a:extLst>
          </p:cNvPr>
          <p:cNvSpPr txBox="1"/>
          <p:nvPr/>
        </p:nvSpPr>
        <p:spPr>
          <a:xfrm>
            <a:off x="685800" y="1803400"/>
            <a:ext cx="2247900" cy="858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b="1" dirty="0">
                <a:solidFill>
                  <a:srgbClr val="FFFFFF"/>
                </a:solidFill>
              </a:rPr>
              <a:t>Alert </a:t>
            </a:r>
            <a:r>
              <a:rPr lang="en-US" sz="1600" b="1" dirty="0">
                <a:solidFill>
                  <a:srgbClr val="FFFFFF"/>
                </a:solidFill>
              </a:rPr>
              <a:t>auto-dispatched</a:t>
            </a:r>
            <a:r>
              <a:rPr lang="en-US" sz="1400" b="1" dirty="0">
                <a:solidFill>
                  <a:srgbClr val="FFFFFF"/>
                </a:solidFill>
              </a:rPr>
              <a:t> to the nearest available technician.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ACDE1B-78C2-FCCA-0907-366A174A6B95}"/>
              </a:ext>
            </a:extLst>
          </p:cNvPr>
          <p:cNvSpPr/>
          <p:nvPr/>
        </p:nvSpPr>
        <p:spPr>
          <a:xfrm>
            <a:off x="3238500" y="1168400"/>
            <a:ext cx="2603500" cy="19812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25CF6-FA3D-D748-979A-04C2BF159CD4}"/>
              </a:ext>
            </a:extLst>
          </p:cNvPr>
          <p:cNvSpPr txBox="1"/>
          <p:nvPr/>
        </p:nvSpPr>
        <p:spPr>
          <a:xfrm>
            <a:off x="3416300" y="1371600"/>
            <a:ext cx="22479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2 · Tech Accepts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C4ABE-8C2B-9D2B-C23B-17C3FC2E8F92}"/>
              </a:ext>
            </a:extLst>
          </p:cNvPr>
          <p:cNvSpPr txBox="1"/>
          <p:nvPr/>
        </p:nvSpPr>
        <p:spPr>
          <a:xfrm>
            <a:off x="3416300" y="1803400"/>
            <a:ext cx="2298700" cy="9278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FFFFF"/>
                </a:solidFill>
              </a:rPr>
              <a:t>Technician acknowledges within SLA.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F14C8A-2B12-66A0-14CB-FC97402DAC42}"/>
              </a:ext>
            </a:extLst>
          </p:cNvPr>
          <p:cNvSpPr/>
          <p:nvPr/>
        </p:nvSpPr>
        <p:spPr>
          <a:xfrm>
            <a:off x="5969000" y="1168400"/>
            <a:ext cx="2603500" cy="19812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EAB7C-4BAD-F4D7-37C5-B9C76C48758D}"/>
              </a:ext>
            </a:extLst>
          </p:cNvPr>
          <p:cNvSpPr txBox="1"/>
          <p:nvPr/>
        </p:nvSpPr>
        <p:spPr>
          <a:xfrm>
            <a:off x="6146800" y="1371600"/>
            <a:ext cx="22479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3 · Tech Reaches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854B2-5058-2276-D833-E0A0484CC807}"/>
              </a:ext>
            </a:extLst>
          </p:cNvPr>
          <p:cNvSpPr txBox="1"/>
          <p:nvPr/>
        </p:nvSpPr>
        <p:spPr>
          <a:xfrm>
            <a:off x="6146800" y="1803400"/>
            <a:ext cx="2247900" cy="6447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FFFFF"/>
                </a:solidFill>
              </a:rPr>
              <a:t>Dispatched and on-site at the reefer.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728B9A-0D43-24EA-2F0E-FA898599296D}"/>
              </a:ext>
            </a:extLst>
          </p:cNvPr>
          <p:cNvSpPr/>
          <p:nvPr/>
        </p:nvSpPr>
        <p:spPr>
          <a:xfrm>
            <a:off x="8699500" y="1168400"/>
            <a:ext cx="2603500" cy="1981200"/>
          </a:xfrm>
          <a:prstGeom prst="round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D66AF7-ECE8-B6C5-E813-80608B08DABB}"/>
              </a:ext>
            </a:extLst>
          </p:cNvPr>
          <p:cNvSpPr txBox="1"/>
          <p:nvPr/>
        </p:nvSpPr>
        <p:spPr>
          <a:xfrm>
            <a:off x="8877300" y="1371600"/>
            <a:ext cx="22479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4 · Issue Closed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BBF120-4C13-02DD-757B-FCC740E6A7BF}"/>
              </a:ext>
            </a:extLst>
          </p:cNvPr>
          <p:cNvSpPr txBox="1"/>
          <p:nvPr/>
        </p:nvSpPr>
        <p:spPr>
          <a:xfrm>
            <a:off x="8877300" y="1803400"/>
            <a:ext cx="2247900" cy="9278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FFFFF"/>
                </a:solidFill>
              </a:rPr>
              <a:t>Cooling restored; temperature back in range and verified.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3D7FD4-C59D-7F0F-6CB6-640E0F91E6E1}"/>
              </a:ext>
            </a:extLst>
          </p:cNvPr>
          <p:cNvCxnSpPr/>
          <p:nvPr/>
        </p:nvCxnSpPr>
        <p:spPr>
          <a:xfrm>
            <a:off x="3111500" y="2159000"/>
            <a:ext cx="127000" cy="0"/>
          </a:xfrm>
          <a:prstGeom prst="line">
            <a:avLst/>
          </a:prstGeom>
          <a:ln w="31750">
            <a:solidFill>
              <a:srgbClr val="7882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AF7286-4CD5-A1B3-3BEC-69D311E5C356}"/>
              </a:ext>
            </a:extLst>
          </p:cNvPr>
          <p:cNvCxnSpPr/>
          <p:nvPr/>
        </p:nvCxnSpPr>
        <p:spPr>
          <a:xfrm>
            <a:off x="5842000" y="2159000"/>
            <a:ext cx="127000" cy="0"/>
          </a:xfrm>
          <a:prstGeom prst="line">
            <a:avLst/>
          </a:prstGeom>
          <a:ln w="31750">
            <a:solidFill>
              <a:srgbClr val="7882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C94663-1BED-3CFB-9CF8-1A3D320D05A8}"/>
              </a:ext>
            </a:extLst>
          </p:cNvPr>
          <p:cNvCxnSpPr/>
          <p:nvPr/>
        </p:nvCxnSpPr>
        <p:spPr>
          <a:xfrm>
            <a:off x="8572500" y="2159000"/>
            <a:ext cx="127000" cy="0"/>
          </a:xfrm>
          <a:prstGeom prst="line">
            <a:avLst/>
          </a:prstGeom>
          <a:ln w="31750">
            <a:solidFill>
              <a:srgbClr val="7882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B0A11E-0B97-639C-BFFD-3ECF5F6DACDD}"/>
              </a:ext>
            </a:extLst>
          </p:cNvPr>
          <p:cNvSpPr/>
          <p:nvPr/>
        </p:nvSpPr>
        <p:spPr>
          <a:xfrm>
            <a:off x="508000" y="3683000"/>
            <a:ext cx="11176000" cy="1270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3C0CB3-FB77-7EBA-74C4-A9E5F7A09251}"/>
              </a:ext>
            </a:extLst>
          </p:cNvPr>
          <p:cNvSpPr txBox="1"/>
          <p:nvPr/>
        </p:nvSpPr>
        <p:spPr>
          <a:xfrm>
            <a:off x="787400" y="3886200"/>
            <a:ext cx="10871200" cy="3556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If not closed within the 60-minute window: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892865-6E82-CF0C-0D65-B87BA6296C54}"/>
              </a:ext>
            </a:extLst>
          </p:cNvPr>
          <p:cNvSpPr txBox="1"/>
          <p:nvPr/>
        </p:nvSpPr>
        <p:spPr>
          <a:xfrm>
            <a:off x="787400" y="4343400"/>
            <a:ext cx="108712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Escalate to Senior Manager   •   Issue a replacement load   •   Mark loss (business impact recorded)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33F0F-EB59-54FB-D476-38A864BE79AF}"/>
              </a:ext>
            </a:extLst>
          </p:cNvPr>
          <p:cNvSpPr txBox="1"/>
          <p:nvPr/>
        </p:nvSpPr>
        <p:spPr>
          <a:xfrm>
            <a:off x="508000" y="5257800"/>
            <a:ext cx="11176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i="1" dirty="0">
                <a:solidFill>
                  <a:srgbClr val="34495E"/>
                </a:solidFill>
              </a:rPr>
              <a:t>Every step is SLA-timed. Nothing stalls silently — the clock drives the next action automatically.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A23A8A-0C23-C95B-EE63-0E15BEB11D40}"/>
              </a:ext>
            </a:extLst>
          </p:cNvPr>
          <p:cNvSpPr txBox="1"/>
          <p:nvPr/>
        </p:nvSpPr>
        <p:spPr>
          <a:xfrm>
            <a:off x="508000" y="5740400"/>
            <a:ext cx="11176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1B4F72"/>
                </a:solidFill>
              </a:rPr>
              <a:t>IoT sensors track the reefer in real time; agents orchestrate inform → accept → reach → close and enforce the deadline.</a:t>
            </a:r>
          </a:p>
        </p:txBody>
      </p:sp>
    </p:spTree>
    <p:extLst>
      <p:ext uri="{BB962C8B-B14F-4D97-AF65-F5344CB8AC3E}">
        <p14:creationId xmlns:p14="http://schemas.microsoft.com/office/powerpoint/2010/main" val="237980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AFEA87-F18F-B443-7AF3-EECB9C34804D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9F318-4BFB-1A67-4D73-B00B95D7EE54}"/>
              </a:ext>
            </a:extLst>
          </p:cNvPr>
          <p:cNvSpPr txBox="1"/>
          <p:nvPr/>
        </p:nvSpPr>
        <p:spPr>
          <a:xfrm>
            <a:off x="304800" y="114300"/>
            <a:ext cx="11582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Two outcomes — but never a silent failure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4A9506-A0AC-DB5F-B806-DE984FD3A834}"/>
              </a:ext>
            </a:extLst>
          </p:cNvPr>
          <p:cNvSpPr/>
          <p:nvPr/>
        </p:nvSpPr>
        <p:spPr>
          <a:xfrm>
            <a:off x="508000" y="1143000"/>
            <a:ext cx="5461000" cy="4064000"/>
          </a:xfrm>
          <a:prstGeom prst="round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8A294-4983-0D78-B617-E798682794AB}"/>
              </a:ext>
            </a:extLst>
          </p:cNvPr>
          <p:cNvSpPr txBox="1"/>
          <p:nvPr/>
        </p:nvSpPr>
        <p:spPr>
          <a:xfrm>
            <a:off x="787400" y="1397000"/>
            <a:ext cx="4902200" cy="3556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Outcome A — fixed in time (≤ 60 min)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451CE-FF6E-C76B-5728-AAA147B10D35}"/>
              </a:ext>
            </a:extLst>
          </p:cNvPr>
          <p:cNvSpPr txBox="1"/>
          <p:nvPr/>
        </p:nvSpPr>
        <p:spPr>
          <a:xfrm>
            <a:off x="787400" y="1930400"/>
            <a:ext cx="4902200" cy="25594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lang="en-US" sz="2000" dirty="0">
                <a:solidFill>
                  <a:srgbClr val="FFFFFF"/>
                </a:solidFill>
              </a:rPr>
              <a:t>Cooling restored inside the window.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→  Cargo saved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→  Store delivered on time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→  Zero loss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→  Full temperature + action audit trail retained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2A4719-C9E1-E2C2-FE15-C26BB778BE4B}"/>
              </a:ext>
            </a:extLst>
          </p:cNvPr>
          <p:cNvSpPr/>
          <p:nvPr/>
        </p:nvSpPr>
        <p:spPr>
          <a:xfrm>
            <a:off x="6223000" y="1143000"/>
            <a:ext cx="5461000" cy="4064000"/>
          </a:xfrm>
          <a:prstGeom prst="roundRect">
            <a:avLst/>
          </a:prstGeom>
          <a:solidFill>
            <a:srgbClr val="A56A0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AABBB-4C3E-1304-6E52-B2DC8B529B23}"/>
              </a:ext>
            </a:extLst>
          </p:cNvPr>
          <p:cNvSpPr txBox="1"/>
          <p:nvPr/>
        </p:nvSpPr>
        <p:spPr>
          <a:xfrm>
            <a:off x="6502400" y="1397000"/>
            <a:ext cx="4902200" cy="3556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Outcome B — not fixed in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4C4AC-BDA4-12F7-F44A-2AE490C9EF39}"/>
              </a:ext>
            </a:extLst>
          </p:cNvPr>
          <p:cNvSpPr txBox="1"/>
          <p:nvPr/>
        </p:nvSpPr>
        <p:spPr>
          <a:xfrm>
            <a:off x="6502400" y="1930400"/>
            <a:ext cx="4902200" cy="26705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lang="en-US" dirty="0">
                <a:solidFill>
                  <a:srgbClr val="FFFFFF"/>
                </a:solidFill>
              </a:rPr>
              <a:t>The system doesn’t just fail — it protects the business: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→  Replacement load dispatched (store still served)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→  Senior Manager escalation with live $ impact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→  Loss recorded for audit and insurance</a:t>
            </a:r>
          </a:p>
          <a:p>
            <a:pPr marL="228600" indent="-22860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→  Root cause captured for next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C947E-FFD0-BCA5-3D1F-74BAB863FACD}"/>
              </a:ext>
            </a:extLst>
          </p:cNvPr>
          <p:cNvSpPr txBox="1"/>
          <p:nvPr/>
        </p:nvSpPr>
        <p:spPr>
          <a:xfrm>
            <a:off x="508000" y="5740400"/>
            <a:ext cx="1117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i="1" dirty="0">
                <a:solidFill>
                  <a:srgbClr val="1B4F72"/>
                </a:solidFill>
              </a:rPr>
              <a:t>Either way, the business is informed in real time and the store is protected — no surprise spoilage, no silent loss.</a:t>
            </a:r>
          </a:p>
        </p:txBody>
      </p:sp>
    </p:spTree>
    <p:extLst>
      <p:ext uri="{BB962C8B-B14F-4D97-AF65-F5344CB8AC3E}">
        <p14:creationId xmlns:p14="http://schemas.microsoft.com/office/powerpoint/2010/main" val="420640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53CBB5-F98A-7F33-88E6-5802E09CD0F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278F7-F6A1-2FA2-97DB-D7D2EC7DDDDF}"/>
              </a:ext>
            </a:extLst>
          </p:cNvPr>
          <p:cNvSpPr txBox="1"/>
          <p:nvPr/>
        </p:nvSpPr>
        <p:spPr>
          <a:xfrm>
            <a:off x="304800" y="114300"/>
            <a:ext cx="115824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Why it matters — and where it goes next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69C858-0C50-37F9-FA88-5DED04523453}"/>
              </a:ext>
            </a:extLst>
          </p:cNvPr>
          <p:cNvSpPr/>
          <p:nvPr/>
        </p:nvSpPr>
        <p:spPr>
          <a:xfrm>
            <a:off x="508000" y="1041400"/>
            <a:ext cx="3581400" cy="19050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1DFC9-C981-2D3F-DE93-ABA103EDF5C3}"/>
              </a:ext>
            </a:extLst>
          </p:cNvPr>
          <p:cNvSpPr txBox="1"/>
          <p:nvPr/>
        </p:nvSpPr>
        <p:spPr>
          <a:xfrm>
            <a:off x="711200" y="1244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Real-time visibility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EC375-880A-DCAE-A880-8B4CEF964483}"/>
              </a:ext>
            </a:extLst>
          </p:cNvPr>
          <p:cNvSpPr txBox="1"/>
          <p:nvPr/>
        </p:nvSpPr>
        <p:spPr>
          <a:xfrm>
            <a:off x="711200" y="1879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IoT senses the reefer continuously — deviations flagged before spoilage.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BFEB63-4F64-2DA6-757E-67F83CA6CAC1}"/>
              </a:ext>
            </a:extLst>
          </p:cNvPr>
          <p:cNvSpPr/>
          <p:nvPr/>
        </p:nvSpPr>
        <p:spPr>
          <a:xfrm>
            <a:off x="4305300" y="1041400"/>
            <a:ext cx="3581400" cy="1905000"/>
          </a:xfrm>
          <a:prstGeom prst="roundRect">
            <a:avLst/>
          </a:prstGeom>
          <a:solidFill>
            <a:srgbClr val="2874A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7A8C4-3F6F-C6B0-CA58-E0630A9CBB0D}"/>
              </a:ext>
            </a:extLst>
          </p:cNvPr>
          <p:cNvSpPr txBox="1"/>
          <p:nvPr/>
        </p:nvSpPr>
        <p:spPr>
          <a:xfrm>
            <a:off x="4508500" y="1244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SLA-driven autonomy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DDE58-C74F-D543-A5D0-C87FFC469962}"/>
              </a:ext>
            </a:extLst>
          </p:cNvPr>
          <p:cNvSpPr txBox="1"/>
          <p:nvPr/>
        </p:nvSpPr>
        <p:spPr>
          <a:xfrm>
            <a:off x="4508500" y="1879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Agents run inform → accept → reach → close and enforce the deadline automatically.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8FFFC5-6A35-6979-8CE4-751E04253A69}"/>
              </a:ext>
            </a:extLst>
          </p:cNvPr>
          <p:cNvSpPr/>
          <p:nvPr/>
        </p:nvSpPr>
        <p:spPr>
          <a:xfrm>
            <a:off x="8102600" y="1041400"/>
            <a:ext cx="3581400" cy="1905000"/>
          </a:xfrm>
          <a:prstGeom prst="round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32726-C7DA-69C4-8100-69A251D6AA53}"/>
              </a:ext>
            </a:extLst>
          </p:cNvPr>
          <p:cNvSpPr txBox="1"/>
          <p:nvPr/>
        </p:nvSpPr>
        <p:spPr>
          <a:xfrm>
            <a:off x="8305800" y="1244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Loss prevention + replacement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1DC77-ED29-9F06-3FE1-7E847D6EEF3D}"/>
              </a:ext>
            </a:extLst>
          </p:cNvPr>
          <p:cNvSpPr txBox="1"/>
          <p:nvPr/>
        </p:nvSpPr>
        <p:spPr>
          <a:xfrm>
            <a:off x="8305800" y="1879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Fix in time, or dispatch a replacement so the store is never left short.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F6D1B9-BF19-6565-2464-E4DFCE81AFA0}"/>
              </a:ext>
            </a:extLst>
          </p:cNvPr>
          <p:cNvSpPr/>
          <p:nvPr/>
        </p:nvSpPr>
        <p:spPr>
          <a:xfrm>
            <a:off x="508000" y="3200400"/>
            <a:ext cx="3581400" cy="1905000"/>
          </a:xfrm>
          <a:prstGeom prst="roundRect">
            <a:avLst/>
          </a:prstGeom>
          <a:solidFill>
            <a:srgbClr val="A56A0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FF7ED4-7170-A9AA-0F43-69A08682F016}"/>
              </a:ext>
            </a:extLst>
          </p:cNvPr>
          <p:cNvSpPr txBox="1"/>
          <p:nvPr/>
        </p:nvSpPr>
        <p:spPr>
          <a:xfrm>
            <a:off x="711200" y="3403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Escalation with business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EC342-2C3C-2694-7654-C8521D5EC5D5}"/>
              </a:ext>
            </a:extLst>
          </p:cNvPr>
          <p:cNvSpPr txBox="1"/>
          <p:nvPr/>
        </p:nvSpPr>
        <p:spPr>
          <a:xfrm>
            <a:off x="711200" y="4038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Senior Manager sees the $ impact live — decisions made with the real number.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305AE2-9C4B-4619-570C-07015DC2EA0C}"/>
              </a:ext>
            </a:extLst>
          </p:cNvPr>
          <p:cNvSpPr/>
          <p:nvPr/>
        </p:nvSpPr>
        <p:spPr>
          <a:xfrm>
            <a:off x="4305300" y="3200400"/>
            <a:ext cx="3581400" cy="1905000"/>
          </a:xfrm>
          <a:prstGeom prst="roundRect">
            <a:avLst/>
          </a:prstGeom>
          <a:solidFill>
            <a:srgbClr val="1B4F72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3EFD3-16C1-79C1-C58E-D9B6C506F6A9}"/>
              </a:ext>
            </a:extLst>
          </p:cNvPr>
          <p:cNvSpPr txBox="1"/>
          <p:nvPr/>
        </p:nvSpPr>
        <p:spPr>
          <a:xfrm>
            <a:off x="4508500" y="3403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8CD68F-FAC1-E554-521A-13218321A984}"/>
              </a:ext>
            </a:extLst>
          </p:cNvPr>
          <p:cNvSpPr txBox="1"/>
          <p:nvPr/>
        </p:nvSpPr>
        <p:spPr>
          <a:xfrm>
            <a:off x="4508500" y="4038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Temperature log + every action + timings retained for audit and insurance.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F8A38B-F14B-4E78-0F3A-18DFB7EF4E97}"/>
              </a:ext>
            </a:extLst>
          </p:cNvPr>
          <p:cNvSpPr/>
          <p:nvPr/>
        </p:nvSpPr>
        <p:spPr>
          <a:xfrm>
            <a:off x="8102600" y="3200400"/>
            <a:ext cx="3581400" cy="1905000"/>
          </a:xfrm>
          <a:prstGeom prst="roundRect">
            <a:avLst/>
          </a:prstGeom>
          <a:solidFill>
            <a:srgbClr val="1E844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04DC1-63C8-9E70-4857-319CB750A1E9}"/>
              </a:ext>
            </a:extLst>
          </p:cNvPr>
          <p:cNvSpPr txBox="1"/>
          <p:nvPr/>
        </p:nvSpPr>
        <p:spPr>
          <a:xfrm>
            <a:off x="8305800" y="3403600"/>
            <a:ext cx="3175000" cy="330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Proven ROI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B5280D-A6F6-BD87-6305-C59128ACB31A}"/>
              </a:ext>
            </a:extLst>
          </p:cNvPr>
          <p:cNvSpPr txBox="1"/>
          <p:nvPr/>
        </p:nvSpPr>
        <p:spPr>
          <a:xfrm>
            <a:off x="8305800" y="4038600"/>
            <a:ext cx="3175000" cy="1016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</a:rPr>
              <a:t>Low-cost sensors; ≈$15k saved per site each year; ROI in 3–6 months.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0CAC3C-A790-E4C6-3DD1-20B31B3079A4}"/>
              </a:ext>
            </a:extLst>
          </p:cNvPr>
          <p:cNvSpPr txBox="1"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i="1" dirty="0">
                <a:solidFill>
                  <a:srgbClr val="1B4F72"/>
                </a:solidFill>
              </a:rPr>
              <a:t>Same agentic pattern as our incident platform: detect → act (inform / accept / reach) → escalate / replace → close → learn. One playbook, many domains.</a:t>
            </a:r>
          </a:p>
        </p:txBody>
      </p:sp>
    </p:spTree>
    <p:extLst>
      <p:ext uri="{BB962C8B-B14F-4D97-AF65-F5344CB8AC3E}">
        <p14:creationId xmlns:p14="http://schemas.microsoft.com/office/powerpoint/2010/main" val="310618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3E8984-0875-4C9A-874F-837BA176D9B3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4a42da23-ef8a-4404-9d7c-ed5ec97bcd2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660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2</cp:revision>
  <dcterms:created xsi:type="dcterms:W3CDTF">2026-07-13T08:29:22Z</dcterms:created>
  <dcterms:modified xsi:type="dcterms:W3CDTF">2026-07-13T08:46:20Z</dcterms:modified>
</cp:coreProperties>
</file>