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0D30-FDB7-CC7F-69FB-2FCAE86B3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C48B4-0911-1CCB-1C06-714FFB431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6798-18EC-60FA-8CD7-B9A9C5F0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EA9B9-89BC-3F7B-6313-A03E87B2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91344-5A22-C15F-476F-2F2411AF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58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4291-FBCB-9199-66F6-D33A0943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B817F-4EB1-69C0-BFEE-F6F1029A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B5721-1DAB-B020-A914-7B959527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E8B10-63D4-347C-E307-F14A17A0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598BB-4430-5103-C77C-1B78E371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04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9059-2F9B-B8D0-AD5F-90631B82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12931-7500-2CB3-2CCC-70C406E7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84764-6D1D-3A67-C5D9-C1A51A1E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96B30-7B9F-7C64-9D7C-F7205CFA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C9C83-1691-2385-81CC-EFB2B022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33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5FB2-75EF-20CF-28C3-FB3F613F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4B9B-BBF1-A539-3A3F-36FA0D9C9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B446C-2217-4F06-235B-D0B89E5EB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95E5F-72FC-D638-20CA-5346C5F4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B2B01-E313-D283-AB6E-5B4FBB63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8ADB9-AA84-9B97-DF88-25F792C6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76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C0A1-C35E-EBAF-8B86-73AFA1F82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3DC7D-EA49-5F82-56C0-C1C0648B6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90C41-5DAF-CFE4-958C-8D60267EB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83C80-343F-25B2-1FDE-5E641130C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A2D19-E4D5-190C-DC62-C32297BDE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06C90-002E-1C98-F7E4-DE635F01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52889E-4EC2-9BD7-A101-1A7B05EA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26A6F-99B8-8DDF-F356-6607BBED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01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8406B-1525-1007-E96B-B5CBEFD6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48C269-5AD6-8652-A329-0FE310CF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07E6D-5726-AF85-37B8-655C54B9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4885D-EAD9-010A-C211-8246981E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30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4D8E0-5A3D-3925-A0AF-37621A21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CC85F-E970-8574-4A96-43A67F9C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17C66-0257-86D9-E5C2-42ABB069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83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F3B4-E767-3054-6E41-25BE43718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DAEFB-E0F3-5A9C-492F-8FA976536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9070C-8856-99F1-B46E-BD59CBA34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63DBF-DF2D-0410-252C-4EBA454A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9C114-EA07-B8A2-BE50-1654DAEC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74C85-6BD9-8C41-C4FD-88350333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4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222F-2C5C-86C5-45DE-C0187389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F77B4-852C-ABB0-E0D2-9F015F292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90531-0192-CD77-EC4F-F7AC97820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B549A-9339-67C6-AB60-BD3FD188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24621-8A47-12E0-8DE6-DFFEF404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B4CAC-BDC5-00AE-0D98-5F143E33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33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AB84-FDEB-3F68-1833-BAB9943F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1A51F-7CCB-8C3E-64CA-436D8F68E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4C847-9D03-5108-D76D-24ABE145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13969-52D3-F89C-0389-45D99F91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DE5C-3EB3-F69F-7D90-AAD01811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6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8705A-6215-7E89-43F7-15BE995DB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D08D4-ECA2-984F-C005-1482F6C08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D8C5E-CCCD-17A7-6082-0C4573906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99076-C918-35BB-C56C-967F15C7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6E779-F951-0DDC-EA1F-E15CDAB3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79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F504A-641D-5736-E46D-FBE52809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BDDA-C8D8-E04C-95F3-226404CCE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0551B-1DB0-BA1A-2540-250BDDC45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82815-6B34-48A3-94B5-A25C103DB290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B184F-C9F2-46C2-760C-C43451F93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9BBC-37FB-3AC2-49B3-E472A0288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00A95-FE27-428C-8463-27C20877B1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58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75088C-8356-8C6A-BBE3-3C78CD35EE11}"/>
              </a:ext>
            </a:extLst>
          </p:cNvPr>
          <p:cNvSpPr/>
          <p:nvPr/>
        </p:nvSpPr>
        <p:spPr>
          <a:xfrm>
            <a:off x="0" y="1905000"/>
            <a:ext cx="12192000" cy="190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1FDA4-DE96-03D6-6AC7-1B1E7F95D7B0}"/>
              </a:ext>
            </a:extLst>
          </p:cNvPr>
          <p:cNvSpPr txBox="1"/>
          <p:nvPr/>
        </p:nvSpPr>
        <p:spPr>
          <a:xfrm>
            <a:off x="508000" y="2184400"/>
            <a:ext cx="11176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FFFFFF"/>
                </a:solidFill>
                <a:latin typeface="Segoe UI" panose="020B0502040204020203" pitchFamily="34" charset="0"/>
              </a:rPr>
              <a:t>ServerOps - Architectural Pillars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0F8CB-8734-0325-AEB3-4450F45BBEC1}"/>
              </a:ext>
            </a:extLst>
          </p:cNvPr>
          <p:cNvSpPr txBox="1"/>
          <p:nvPr/>
        </p:nvSpPr>
        <p:spPr>
          <a:xfrm>
            <a:off x="508000" y="2997200"/>
            <a:ext cx="1117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i="1">
                <a:solidFill>
                  <a:srgbClr val="D2E1F5"/>
                </a:solidFill>
                <a:latin typeface="Segoe UI" panose="020B0502040204020203" pitchFamily="34" charset="0"/>
              </a:rPr>
              <a:t>AI-driven, MCP-enabled process mining and autonomous incident remediation</a:t>
            </a:r>
            <a:endParaRPr lang="en-IN" sz="1400" i="1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6FEDC-4CB8-83F9-15FE-09C35007BD99}"/>
              </a:ext>
            </a:extLst>
          </p:cNvPr>
          <p:cNvSpPr txBox="1"/>
          <p:nvPr/>
        </p:nvSpPr>
        <p:spPr>
          <a:xfrm>
            <a:off x="508000" y="41910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i="1">
                <a:solidFill>
                  <a:srgbClr val="78828C"/>
                </a:solidFill>
                <a:latin typeface="Segoe UI" panose="020B0502040204020203" pitchFamily="34" charset="0"/>
              </a:rPr>
              <a:t>Open standards  -  Source-agnostic  -  Explainable AI  -  Governed automation  -  Full observability  -  Self-improving</a:t>
            </a:r>
            <a:endParaRPr lang="en-IN" sz="1200" i="1">
              <a:solidFill>
                <a:srgbClr val="78828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DF915-DEF2-8F04-A49B-4E9026EB59F5}"/>
              </a:ext>
            </a:extLst>
          </p:cNvPr>
          <p:cNvSpPr txBox="1"/>
          <p:nvPr/>
        </p:nvSpPr>
        <p:spPr>
          <a:xfrm>
            <a:off x="508000" y="59690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1F4E79"/>
                </a:solidFill>
                <a:latin typeface="Segoe UI" panose="020B0502040204020203" pitchFamily="34" charset="0"/>
              </a:rPr>
              <a:t>Detect -&gt; Diagnose (with precedent) -&gt; Approve -&gt; Remediate -&gt; Audit -&gt; Resolve -&gt; Learn</a:t>
            </a:r>
            <a:endParaRPr lang="en-IN" sz="11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00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D1DDF5-E7B6-9C59-074F-8CAC16B5C116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D5AAE-09DB-68F0-BC1C-25695A7917D3}"/>
              </a:ext>
            </a:extLst>
          </p:cNvPr>
          <p:cNvSpPr txBox="1"/>
          <p:nvPr/>
        </p:nvSpPr>
        <p:spPr>
          <a:xfrm>
            <a:off x="304800" y="114300"/>
            <a:ext cx="115824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Architectural Pillars - what makes it enterprise-ready</a:t>
            </a:r>
            <a:endParaRPr lang="en-IN" sz="1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97A00B-E280-8F92-F6E6-B474991A4286}"/>
              </a:ext>
            </a:extLst>
          </p:cNvPr>
          <p:cNvSpPr/>
          <p:nvPr/>
        </p:nvSpPr>
        <p:spPr>
          <a:xfrm>
            <a:off x="304800" y="838200"/>
            <a:ext cx="3721100" cy="17018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59C38-C98E-F98C-90C2-E812A1321CF6}"/>
              </a:ext>
            </a:extLst>
          </p:cNvPr>
          <p:cNvSpPr txBox="1"/>
          <p:nvPr/>
        </p:nvSpPr>
        <p:spPr>
          <a:xfrm>
            <a:off x="482600" y="9652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1. MCP-Enabled, Open Standard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1E8C6-683D-BC3E-A5C1-E1F15FBDB420}"/>
              </a:ext>
            </a:extLst>
          </p:cNvPr>
          <p:cNvSpPr txBox="1"/>
          <p:nvPr/>
        </p:nvSpPr>
        <p:spPr>
          <a:xfrm>
            <a:off x="482600" y="14478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Integrations over the open MCP protocol - swap backends (e.g. Jira own vs Atlassian) via one config line. No vendor lock-in.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381FFC-296E-AD5E-4F4C-20EA1B6AA7F6}"/>
              </a:ext>
            </a:extLst>
          </p:cNvPr>
          <p:cNvSpPr/>
          <p:nvPr/>
        </p:nvSpPr>
        <p:spPr>
          <a:xfrm>
            <a:off x="4229100" y="838200"/>
            <a:ext cx="3721100" cy="17018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F3F77-84E6-BA90-D045-006BAF14A92B}"/>
              </a:ext>
            </a:extLst>
          </p:cNvPr>
          <p:cNvSpPr txBox="1"/>
          <p:nvPr/>
        </p:nvSpPr>
        <p:spPr>
          <a:xfrm>
            <a:off x="4406900" y="9652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2. Connects Any Log Source</a:t>
            </a:r>
            <a:endParaRPr lang="en-IN" sz="1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5C5A9-7B00-8D4E-39C4-7A569F3B1BC2}"/>
              </a:ext>
            </a:extLst>
          </p:cNvPr>
          <p:cNvSpPr txBox="1"/>
          <p:nvPr/>
        </p:nvSpPr>
        <p:spPr>
          <a:xfrm>
            <a:off x="4406900" y="14478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Appian, Mule, Prometheus, Fluentd and more - add a new source by config, not code. Ready to plug into your existing log estate.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739159-84DF-5791-7DDE-BE395889A1DB}"/>
              </a:ext>
            </a:extLst>
          </p:cNvPr>
          <p:cNvSpPr/>
          <p:nvPr/>
        </p:nvSpPr>
        <p:spPr>
          <a:xfrm>
            <a:off x="8153400" y="838200"/>
            <a:ext cx="3721100" cy="17018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FF139-1AEF-55BB-1B76-A6C771C53DBF}"/>
              </a:ext>
            </a:extLst>
          </p:cNvPr>
          <p:cNvSpPr txBox="1"/>
          <p:nvPr/>
        </p:nvSpPr>
        <p:spPr>
          <a:xfrm>
            <a:off x="8331200" y="9652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3. Scalable, Normalized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25F3C8-21A6-1AF0-EFF6-55ACC43AF6F9}"/>
              </a:ext>
            </a:extLst>
          </p:cNvPr>
          <p:cNvSpPr txBox="1"/>
          <p:nvPr/>
        </p:nvSpPr>
        <p:spPr>
          <a:xfrm>
            <a:off x="8331200" y="14478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Heterogeneous logs unified into one multi-tenant data model on managed Postgres - built to scale across teams and volume.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4176CB-60F8-42EF-6468-5228987440F4}"/>
              </a:ext>
            </a:extLst>
          </p:cNvPr>
          <p:cNvSpPr/>
          <p:nvPr/>
        </p:nvSpPr>
        <p:spPr>
          <a:xfrm>
            <a:off x="304800" y="2717800"/>
            <a:ext cx="3721100" cy="17018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A8EFF-AB61-8B82-EDB9-7A9B4C56B1ED}"/>
              </a:ext>
            </a:extLst>
          </p:cNvPr>
          <p:cNvSpPr txBox="1"/>
          <p:nvPr/>
        </p:nvSpPr>
        <p:spPr>
          <a:xfrm>
            <a:off x="482600" y="28448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4. Precedent-Grounded AI RCA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2AF32-F3C7-258D-92D9-0AA0BE14D461}"/>
              </a:ext>
            </a:extLst>
          </p:cNvPr>
          <p:cNvSpPr txBox="1"/>
          <p:nvPr/>
        </p:nvSpPr>
        <p:spPr>
          <a:xfrm>
            <a:off x="482600" y="33274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Root cause diagnosed by AI grounded in your OWN proven past fixes (FAISS vector memory + ServiceNow history) - explainable, not guesswork.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6C3B3B-1020-6607-7625-7F00A352E4EB}"/>
              </a:ext>
            </a:extLst>
          </p:cNvPr>
          <p:cNvSpPr/>
          <p:nvPr/>
        </p:nvSpPr>
        <p:spPr>
          <a:xfrm>
            <a:off x="4229100" y="2717800"/>
            <a:ext cx="3721100" cy="17018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E9481-DA41-CD6A-2634-8F3D9844D869}"/>
              </a:ext>
            </a:extLst>
          </p:cNvPr>
          <p:cNvSpPr txBox="1"/>
          <p:nvPr/>
        </p:nvSpPr>
        <p:spPr>
          <a:xfrm>
            <a:off x="4406900" y="28448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5. Governed Automation (HITL)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396C0-261A-BA09-EF18-589C05C10DC3}"/>
              </a:ext>
            </a:extLst>
          </p:cNvPr>
          <p:cNvSpPr txBox="1"/>
          <p:nvPr/>
        </p:nvSpPr>
        <p:spPr>
          <a:xfrm>
            <a:off x="4406900" y="33274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Nothing runs without human approval; only safe, allow-listed actions execute - automation with guardrails, safe for production.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1FA071-216A-8A6A-9B8A-8B5E716D017D}"/>
              </a:ext>
            </a:extLst>
          </p:cNvPr>
          <p:cNvSpPr/>
          <p:nvPr/>
        </p:nvSpPr>
        <p:spPr>
          <a:xfrm>
            <a:off x="8153400" y="2717800"/>
            <a:ext cx="3721100" cy="17018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5416A9-55D8-67BB-C91A-4205D8146331}"/>
              </a:ext>
            </a:extLst>
          </p:cNvPr>
          <p:cNvSpPr txBox="1"/>
          <p:nvPr/>
        </p:nvSpPr>
        <p:spPr>
          <a:xfrm>
            <a:off x="8331200" y="28448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6. Closed-Loop Remediation &amp; Audit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5CC70-F866-ED52-948E-2C1ECF97C8AA}"/>
              </a:ext>
            </a:extLst>
          </p:cNvPr>
          <p:cNvSpPr txBox="1"/>
          <p:nvPr/>
        </p:nvSpPr>
        <p:spPr>
          <a:xfrm>
            <a:off x="8331200" y="33274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Validate -&gt; execute -&gt; verify -&gt; resolve, automatically; every action cross-linked in Jira + ServiceNow - compliance &amp; change-ready.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EC3239A-8ABD-A8D5-DF30-1A43651BF745}"/>
              </a:ext>
            </a:extLst>
          </p:cNvPr>
          <p:cNvSpPr/>
          <p:nvPr/>
        </p:nvSpPr>
        <p:spPr>
          <a:xfrm>
            <a:off x="304800" y="4597400"/>
            <a:ext cx="3721100" cy="1701800"/>
          </a:xfrm>
          <a:prstGeom prst="roundRect">
            <a:avLst/>
          </a:prstGeom>
          <a:solidFill>
            <a:srgbClr val="117864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4CEDE4-E46D-B958-D32F-B63E7463893A}"/>
              </a:ext>
            </a:extLst>
          </p:cNvPr>
          <p:cNvSpPr txBox="1"/>
          <p:nvPr/>
        </p:nvSpPr>
        <p:spPr>
          <a:xfrm>
            <a:off x="482600" y="47244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7. Data &amp; RCA Reporting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E03CAB-2D3A-64B4-6F15-6A81AC8C860D}"/>
              </a:ext>
            </a:extLst>
          </p:cNvPr>
          <p:cNvSpPr txBox="1"/>
          <p:nvPr/>
        </p:nvSpPr>
        <p:spPr>
          <a:xfrm>
            <a:off x="482600" y="52070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Clear root-cause reports, searchable precedent memory and operator dashboards - insight, not raw logs.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3F6409-8236-7246-D895-EB24117E3B85}"/>
              </a:ext>
            </a:extLst>
          </p:cNvPr>
          <p:cNvSpPr/>
          <p:nvPr/>
        </p:nvSpPr>
        <p:spPr>
          <a:xfrm>
            <a:off x="4229100" y="4597400"/>
            <a:ext cx="3721100" cy="1701800"/>
          </a:xfrm>
          <a:prstGeom prst="roundRect">
            <a:avLst/>
          </a:prstGeom>
          <a:solidFill>
            <a:srgbClr val="7D3C98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1FD29-09BE-1E84-E3A7-879CBC26C51E}"/>
              </a:ext>
            </a:extLst>
          </p:cNvPr>
          <p:cNvSpPr txBox="1"/>
          <p:nvPr/>
        </p:nvSpPr>
        <p:spPr>
          <a:xfrm>
            <a:off x="4406900" y="47244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8. Live Activity Capture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BAAC82-316A-B54A-5D77-474B8A9271F2}"/>
              </a:ext>
            </a:extLst>
          </p:cNvPr>
          <p:cNvSpPr txBox="1"/>
          <p:nvPr/>
        </p:nvSpPr>
        <p:spPr>
          <a:xfrm>
            <a:off x="4406900" y="52070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Real-time, Claude-style stage timeline - operators see exactly what the pipeline is doing right now, live.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E2DF898-4B79-5CB0-F370-6EFBB09BC138}"/>
              </a:ext>
            </a:extLst>
          </p:cNvPr>
          <p:cNvSpPr/>
          <p:nvPr/>
        </p:nvSpPr>
        <p:spPr>
          <a:xfrm>
            <a:off x="8153400" y="4597400"/>
            <a:ext cx="3721100" cy="1701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453AC3-DC36-EE7C-734A-C633150D6A5D}"/>
              </a:ext>
            </a:extLst>
          </p:cNvPr>
          <p:cNvSpPr txBox="1"/>
          <p:nvPr/>
        </p:nvSpPr>
        <p:spPr>
          <a:xfrm>
            <a:off x="8331200" y="47244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9. Enterprise Observability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E762C3-6387-F1F8-65AA-4A1A9F227CC0}"/>
              </a:ext>
            </a:extLst>
          </p:cNvPr>
          <p:cNvSpPr txBox="1"/>
          <p:nvPr/>
        </p:nvSpPr>
        <p:spPr>
          <a:xfrm>
            <a:off x="8331200" y="52070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Instrument once, fan out: OpenTelemetry traces for SREs and Langfuse for LLM cost &amp; quality - full transparency.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36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BF2E17-F184-57F2-E2C4-75FEE9294013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75D3D-8CC0-D569-BCFB-2D1FBEC079B1}"/>
              </a:ext>
            </a:extLst>
          </p:cNvPr>
          <p:cNvSpPr txBox="1"/>
          <p:nvPr/>
        </p:nvSpPr>
        <p:spPr>
          <a:xfrm>
            <a:off x="304800" y="114300"/>
            <a:ext cx="115824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Segoe UI" panose="020B0502040204020203" pitchFamily="34" charset="0"/>
              </a:rPr>
              <a:t>Why it matters - business outcomes</a:t>
            </a:r>
            <a:endParaRPr lang="en-IN" sz="19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8197C7-CF3D-C722-2418-2831963070DE}"/>
              </a:ext>
            </a:extLst>
          </p:cNvPr>
          <p:cNvSpPr/>
          <p:nvPr/>
        </p:nvSpPr>
        <p:spPr>
          <a:xfrm>
            <a:off x="304800" y="965200"/>
            <a:ext cx="3721100" cy="1905000"/>
          </a:xfrm>
          <a:prstGeom prst="roundRect">
            <a:avLst/>
          </a:prstGeom>
          <a:solidFill>
            <a:srgbClr val="1F4E7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EEE29-25B6-BEAC-8BE4-B6DE9F93F67A}"/>
              </a:ext>
            </a:extLst>
          </p:cNvPr>
          <p:cNvSpPr txBox="1"/>
          <p:nvPr/>
        </p:nvSpPr>
        <p:spPr>
          <a:xfrm>
            <a:off x="482600" y="10922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Faster MTTR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A8749-F706-892E-AE51-84E3BBEEBF08}"/>
              </a:ext>
            </a:extLst>
          </p:cNvPr>
          <p:cNvSpPr txBox="1"/>
          <p:nvPr/>
        </p:nvSpPr>
        <p:spPr>
          <a:xfrm>
            <a:off x="482600" y="1574800"/>
            <a:ext cx="33655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Detection to verified fix with minimal human effort - incidents resolved in a fraction of the time.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EA6307-9488-D179-AC86-63F4E2246285}"/>
              </a:ext>
            </a:extLst>
          </p:cNvPr>
          <p:cNvSpPr/>
          <p:nvPr/>
        </p:nvSpPr>
        <p:spPr>
          <a:xfrm>
            <a:off x="4229100" y="965200"/>
            <a:ext cx="3721100" cy="1905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E94C5-DCDD-4CF6-F033-86C3A34EEBC7}"/>
              </a:ext>
            </a:extLst>
          </p:cNvPr>
          <p:cNvSpPr txBox="1"/>
          <p:nvPr/>
        </p:nvSpPr>
        <p:spPr>
          <a:xfrm>
            <a:off x="4406900" y="10922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Lower 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035A1-CE19-FB4B-B74A-BCCDCB69232C}"/>
              </a:ext>
            </a:extLst>
          </p:cNvPr>
          <p:cNvSpPr txBox="1"/>
          <p:nvPr/>
        </p:nvSpPr>
        <p:spPr>
          <a:xfrm>
            <a:off x="4406900" y="1574800"/>
            <a:ext cx="33655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Human-approved, allow-listed, fail-safe by design - autonomy without losing control.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468BC2-6253-916D-53E9-76268E3F5F28}"/>
              </a:ext>
            </a:extLst>
          </p:cNvPr>
          <p:cNvSpPr/>
          <p:nvPr/>
        </p:nvSpPr>
        <p:spPr>
          <a:xfrm>
            <a:off x="8153400" y="965200"/>
            <a:ext cx="3721100" cy="1905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67A151-22D1-1AAA-01BB-B4D67345E7A8}"/>
              </a:ext>
            </a:extLst>
          </p:cNvPr>
          <p:cNvSpPr txBox="1"/>
          <p:nvPr/>
        </p:nvSpPr>
        <p:spPr>
          <a:xfrm>
            <a:off x="8331200" y="10922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No lock-in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479C2-B62E-ECEA-4647-394EB127A0D9}"/>
              </a:ext>
            </a:extLst>
          </p:cNvPr>
          <p:cNvSpPr txBox="1"/>
          <p:nvPr/>
        </p:nvSpPr>
        <p:spPr>
          <a:xfrm>
            <a:off x="8331200" y="1574800"/>
            <a:ext cx="33655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Built on open standards (MCP, OpenTelemetry) - swap tools and backends without re-engineering.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41F3DC-6905-0287-2AFF-7EC907150F92}"/>
              </a:ext>
            </a:extLst>
          </p:cNvPr>
          <p:cNvSpPr/>
          <p:nvPr/>
        </p:nvSpPr>
        <p:spPr>
          <a:xfrm>
            <a:off x="304800" y="3073400"/>
            <a:ext cx="3721100" cy="1905000"/>
          </a:xfrm>
          <a:prstGeom prst="roundRect">
            <a:avLst/>
          </a:prstGeom>
          <a:solidFill>
            <a:srgbClr val="5B4E9C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FCB5E-6067-4500-59EF-B0C352E4ED62}"/>
              </a:ext>
            </a:extLst>
          </p:cNvPr>
          <p:cNvSpPr txBox="1"/>
          <p:nvPr/>
        </p:nvSpPr>
        <p:spPr>
          <a:xfrm>
            <a:off x="482600" y="32004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Compliance-ready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8EFA62-CAA5-EF7E-D837-D9034A442AE7}"/>
              </a:ext>
            </a:extLst>
          </p:cNvPr>
          <p:cNvSpPr txBox="1"/>
          <p:nvPr/>
        </p:nvSpPr>
        <p:spPr>
          <a:xfrm>
            <a:off x="482600" y="36830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Cross-linked Jira + ServiceNow audit trail for every automated action - audit and change-management evidence built in.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9DE7CD-57D9-E451-AB17-EAC0D16F1160}"/>
              </a:ext>
            </a:extLst>
          </p:cNvPr>
          <p:cNvSpPr/>
          <p:nvPr/>
        </p:nvSpPr>
        <p:spPr>
          <a:xfrm>
            <a:off x="4229100" y="3073400"/>
            <a:ext cx="3721100" cy="1905000"/>
          </a:xfrm>
          <a:prstGeom prst="roundRect">
            <a:avLst/>
          </a:prstGeom>
          <a:solidFill>
            <a:srgbClr val="D68910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3815E4-D4C2-F415-9CAF-D8E7FD3B97D3}"/>
              </a:ext>
            </a:extLst>
          </p:cNvPr>
          <p:cNvSpPr txBox="1"/>
          <p:nvPr/>
        </p:nvSpPr>
        <p:spPr>
          <a:xfrm>
            <a:off x="4406900" y="32004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Future-proof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BED740-9EA4-53C4-FA0B-0E0AD80EF87E}"/>
              </a:ext>
            </a:extLst>
          </p:cNvPr>
          <p:cNvSpPr txBox="1"/>
          <p:nvPr/>
        </p:nvSpPr>
        <p:spPr>
          <a:xfrm>
            <a:off x="4406900" y="3683000"/>
            <a:ext cx="33655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Pluggable sources and backends - onboard new systems and tools by configuration as the estate grows.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6967E33-FD9E-BB81-9447-2E38BE3544A9}"/>
              </a:ext>
            </a:extLst>
          </p:cNvPr>
          <p:cNvSpPr/>
          <p:nvPr/>
        </p:nvSpPr>
        <p:spPr>
          <a:xfrm>
            <a:off x="8153400" y="3073400"/>
            <a:ext cx="3721100" cy="1905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>
            <a:outerShdw blurRad="63500" dist="37357" dir="2700000" rotWithShape="0">
              <a:scrgbClr r="0" g="0" b="0"/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3EB3C-7106-9CB6-F5C4-808A7FA2A205}"/>
              </a:ext>
            </a:extLst>
          </p:cNvPr>
          <p:cNvSpPr txBox="1"/>
          <p:nvPr/>
        </p:nvSpPr>
        <p:spPr>
          <a:xfrm>
            <a:off x="8331200" y="3200400"/>
            <a:ext cx="33655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Gets smarter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57B50C-0DF8-26C4-312A-ECADF2A05C73}"/>
              </a:ext>
            </a:extLst>
          </p:cNvPr>
          <p:cNvSpPr txBox="1"/>
          <p:nvPr/>
        </p:nvSpPr>
        <p:spPr>
          <a:xfrm>
            <a:off x="8331200" y="3683000"/>
            <a:ext cx="33655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Segoe UI" panose="020B0502040204020203" pitchFamily="34" charset="0"/>
              </a:rPr>
              <a:t>Every resolved incident becomes searchable precedent - accuracy compounds over time.</a:t>
            </a:r>
            <a:endParaRPr lang="en-IN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862A1D-0751-D5A2-BDD2-CA4C05F23A48}"/>
              </a:ext>
            </a:extLst>
          </p:cNvPr>
          <p:cNvSpPr txBox="1"/>
          <p:nvPr/>
        </p:nvSpPr>
        <p:spPr>
          <a:xfrm>
            <a:off x="304800" y="6350000"/>
            <a:ext cx="11582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 i="1">
                <a:solidFill>
                  <a:srgbClr val="1F4E79"/>
                </a:solidFill>
                <a:latin typeface="Segoe UI" panose="020B0502040204020203" pitchFamily="34" charset="0"/>
              </a:rPr>
              <a:t>One platform: observe every source, diagnose with memory, remediate with governance, prove it with a cross-system audit trail.</a:t>
            </a:r>
            <a:endParaRPr lang="en-IN" sz="1100" b="1" i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5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Custom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Rana, Dewasheesh (Cognizant)</dc:creator>
  <cp:lastModifiedBy>Rana, Dewasheesh (Cognizant)</cp:lastModifiedBy>
  <cp:revision>1</cp:revision>
  <dcterms:created xsi:type="dcterms:W3CDTF">2026-07-10T07:24:44Z</dcterms:created>
  <dcterms:modified xsi:type="dcterms:W3CDTF">2026-07-10T07:24:44Z</dcterms:modified>
</cp:coreProperties>
</file>