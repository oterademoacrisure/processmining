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826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CAC1E-4B15-B48E-39DA-94C160A6F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353117-92E8-28B6-85E1-6A129FC8F9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52292-6A8A-FDA9-6FA2-028989977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073FA-553B-4161-BECE-CB7FB4E07F8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23C13-B06F-19D5-9858-A930E7CC9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2B986-F230-D340-D114-9B26A5B58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C492-7371-4679-AF20-E5A0793F7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474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C6975-DDA6-9D12-53D7-E13879878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75749-4A8C-7E9E-0DBA-DEE27EE6C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2E9E8-3074-11ED-18DE-F69DAEFF9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073FA-553B-4161-BECE-CB7FB4E07F8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D4167-E989-3422-2AFA-5E1856484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101ED-6F7E-9DD7-9EB6-64C5D52F0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C492-7371-4679-AF20-E5A0793F7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58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992E5-C843-7129-0F36-42D53A91D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EA61F-1933-E1AA-28C3-FCF015EDE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CABE6-4196-8F66-412B-A8D768611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073FA-553B-4161-BECE-CB7FB4E07F8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F606A-35F5-AA1B-00A0-0383F1DD1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AFEC5-6BB0-5A46-C4A1-15BB586B5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C492-7371-4679-AF20-E5A0793F7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662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2C382-F146-8F73-2A88-15BB293E8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06C75-8D42-8755-3422-33D2F9B724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8365D-E2E0-3945-E1B4-C3FAE223B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E08EB-1A00-50D5-F9BB-55D8AAF97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073FA-553B-4161-BECE-CB7FB4E07F8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F3FCE-2D92-17B4-FC91-ED14802AE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D485B-29CA-407D-0340-4FE3C56BA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C492-7371-4679-AF20-E5A0793F7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513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6F4A-32BE-42CF-CCD8-20A5A8E26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1B5F3-7086-717C-15B4-BBA1202FD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B402E-5AAA-118C-11B5-207F0F8DE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B3AD33-6306-3D78-FE88-B680D23657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E1CC22-8F81-4274-ACE3-557345CF1E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299F74-E8C0-B1C4-CD45-82CF3C331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073FA-553B-4161-BECE-CB7FB4E07F8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B72AD2-9D1A-1202-2DEE-55114C61B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5FDCD-3DAC-4A5A-61AD-D91C18E9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C492-7371-4679-AF20-E5A0793F7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865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4D055-6DC1-78A2-0C1A-BE749937F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5EDE5C-5334-F91E-427E-1D2C12200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073FA-553B-4161-BECE-CB7FB4E07F8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C6C1E6-7235-AF9A-CE58-91794216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3D99E-2EF8-A9A4-9808-8D6D412FB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C492-7371-4679-AF20-E5A0793F7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869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AD6C0B-29E8-C7F5-3ACD-5F434383A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073FA-553B-4161-BECE-CB7FB4E07F8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6044C2-BBDE-B670-C579-8D58C7D5B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26DC1-30D9-2B95-4FA9-904978B46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C492-7371-4679-AF20-E5A0793F7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993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9B921-3C88-4E93-B1E8-CD4E995A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DFB0D-63DC-C10C-B537-A11DEBC3B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2E3C1-24E6-1E84-6C06-5818F5129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B7622-9889-C676-79EF-C7470D561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073FA-553B-4161-BECE-CB7FB4E07F8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3D5FE-65DF-CA04-CC82-29025358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3FA4F-6AC1-4A11-E585-1ED293178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C492-7371-4679-AF20-E5A0793F7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033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29DB-1E03-51E4-816B-9011C3393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7D090D-F1E4-AF16-2B26-4A7224CB81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E3D7A7-00BD-F4AC-5521-EE97A57DA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CBA50-5570-C280-BDF9-3D597995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073FA-553B-4161-BECE-CB7FB4E07F8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9C0B0-2911-52F8-77FD-19830333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66A23-C603-D80C-6722-DFC033B1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C492-7371-4679-AF20-E5A0793F7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23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8C430-04F7-5A87-C0B0-3C25C2AC4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D32FA-B922-11CB-2BFD-9851B079B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93A24-D263-DCFB-F820-BD37AB723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073FA-553B-4161-BECE-CB7FB4E07F8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E9985-A320-7E8B-22EA-C84E80867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C07A9-F417-CFE2-613B-C818CCD38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C492-7371-4679-AF20-E5A0793F7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43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E82E88-DD23-2EA7-7D85-44828388F5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3E023-80BB-5562-1DD1-8811CEE0A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1EFEA-71F1-F18E-CA9F-6EF0E7EF6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073FA-553B-4161-BECE-CB7FB4E07F8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C5669-338B-CF73-476F-370D2B8B7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C81A5-C271-B3E2-BE67-5B4407B4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C492-7371-4679-AF20-E5A0793F7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336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385964-85FF-6E7B-1190-875F385A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51BFB-2EA7-8672-206E-543BF3859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AF208-602D-A565-CF3B-475908EBE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7073FA-553B-4161-BECE-CB7FB4E07F8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05E4C-28A9-1E48-454F-0499E46FB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C4F10-387A-0FAA-A9F6-FB89DC9C3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5AC492-7371-4679-AF20-E5A0793F7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97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0AF2F7-0372-BAF7-A725-ADC5DB8E5943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EA68CC-AAE5-0CBE-3556-EB6977660D65}"/>
              </a:ext>
            </a:extLst>
          </p:cNvPr>
          <p:cNvSpPr txBox="1"/>
          <p:nvPr/>
        </p:nvSpPr>
        <p:spPr>
          <a:xfrm>
            <a:off x="304800" y="101600"/>
            <a:ext cx="115824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Segoe UI Semibold" panose="020B0702040204020203" pitchFamily="34" charset="0"/>
              </a:rPr>
              <a:t>Demo LLD - End-to-End Closed Loop</a:t>
            </a:r>
            <a:endParaRPr lang="en-IN" sz="19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193AD7-A71E-B132-89B9-BB7B227287B0}"/>
              </a:ext>
            </a:extLst>
          </p:cNvPr>
          <p:cNvSpPr txBox="1"/>
          <p:nvPr/>
        </p:nvSpPr>
        <p:spPr>
          <a:xfrm>
            <a:off x="304800" y="685800"/>
            <a:ext cx="1158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 i="1" dirty="0">
                <a:solidFill>
                  <a:srgbClr val="7F8C8D"/>
                </a:solidFill>
                <a:latin typeface="Segoe UI" panose="020B0502040204020203" pitchFamily="34" charset="0"/>
              </a:rPr>
              <a:t>Detect -&gt; Diagnose (with precedent) -&gt; human approve -&gt; remediate -&gt; audit (Jira) -&gt; resolve (ServiceNow) -&gt; learn</a:t>
            </a:r>
            <a:endParaRPr lang="en-IN" sz="1100" b="1" i="1" dirty="0">
              <a:solidFill>
                <a:srgbClr val="7F8C8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258B6BC-CC9F-DD71-2227-B06B2405AB24}"/>
              </a:ext>
            </a:extLst>
          </p:cNvPr>
          <p:cNvSpPr/>
          <p:nvPr/>
        </p:nvSpPr>
        <p:spPr>
          <a:xfrm>
            <a:off x="304800" y="1168400"/>
            <a:ext cx="2133600" cy="7366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Segoe UI" panose="020B0502040204020203" pitchFamily="34" charset="0"/>
              </a:rPr>
              <a:t>Log Sources
Appian / Mule / Infra</a:t>
            </a:r>
            <a:endParaRPr lang="en-IN" sz="1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48302C-95FD-E9FF-2A1F-9BD25F82BBEC}"/>
              </a:ext>
            </a:extLst>
          </p:cNvPr>
          <p:cNvSpPr/>
          <p:nvPr/>
        </p:nvSpPr>
        <p:spPr>
          <a:xfrm>
            <a:off x="2667000" y="1168400"/>
            <a:ext cx="2133600" cy="7366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Ingest
-&gt; event_log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481B2AE-5742-83E5-97E2-8E3091777605}"/>
              </a:ext>
            </a:extLst>
          </p:cNvPr>
          <p:cNvSpPr/>
          <p:nvPr/>
        </p:nvSpPr>
        <p:spPr>
          <a:xfrm>
            <a:off x="5029200" y="1168400"/>
            <a:ext cx="2133600" cy="7366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Detect
-&gt; finding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8B6B6C-AE63-9826-83E8-699BB52210F5}"/>
              </a:ext>
            </a:extLst>
          </p:cNvPr>
          <p:cNvSpPr/>
          <p:nvPr/>
        </p:nvSpPr>
        <p:spPr>
          <a:xfrm>
            <a:off x="7391400" y="1168400"/>
            <a:ext cx="2133600" cy="736600"/>
          </a:xfrm>
          <a:prstGeom prst="roundRect">
            <a:avLst/>
          </a:prstGeom>
          <a:solidFill>
            <a:srgbClr val="5B4E9C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Correlate
incident_grouper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D60705E-5953-78A0-08F2-8B5D7A58E255}"/>
              </a:ext>
            </a:extLst>
          </p:cNvPr>
          <p:cNvSpPr/>
          <p:nvPr/>
        </p:nvSpPr>
        <p:spPr>
          <a:xfrm>
            <a:off x="9753600" y="1168400"/>
            <a:ext cx="2133600" cy="736600"/>
          </a:xfrm>
          <a:prstGeom prst="roundRect">
            <a:avLst/>
          </a:prstGeom>
          <a:solidFill>
            <a:srgbClr val="5B4E9C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Diagnose
LLM RCA Investigator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B4AFCC4-D862-84CD-A33C-DB3583C434B0}"/>
              </a:ext>
            </a:extLst>
          </p:cNvPr>
          <p:cNvSpPr/>
          <p:nvPr/>
        </p:nvSpPr>
        <p:spPr>
          <a:xfrm>
            <a:off x="228600" y="1092200"/>
            <a:ext cx="304800" cy="279400"/>
          </a:xfrm>
          <a:prstGeom prst="ellipse">
            <a:avLst/>
          </a:prstGeom>
          <a:solidFill>
            <a:srgbClr val="212529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CBFA62B-8837-EEB4-5FEC-96CE6ED2AAB7}"/>
              </a:ext>
            </a:extLst>
          </p:cNvPr>
          <p:cNvSpPr/>
          <p:nvPr/>
        </p:nvSpPr>
        <p:spPr>
          <a:xfrm>
            <a:off x="2590800" y="1092200"/>
            <a:ext cx="304800" cy="279400"/>
          </a:xfrm>
          <a:prstGeom prst="ellipse">
            <a:avLst/>
          </a:prstGeom>
          <a:solidFill>
            <a:srgbClr val="212529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3A55D28-0B1F-A7F8-1296-6E2138EF6961}"/>
              </a:ext>
            </a:extLst>
          </p:cNvPr>
          <p:cNvSpPr/>
          <p:nvPr/>
        </p:nvSpPr>
        <p:spPr>
          <a:xfrm>
            <a:off x="4953000" y="1092200"/>
            <a:ext cx="304800" cy="279400"/>
          </a:xfrm>
          <a:prstGeom prst="ellipse">
            <a:avLst/>
          </a:prstGeom>
          <a:solidFill>
            <a:srgbClr val="212529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1A8E122-4EC6-71D6-F9B3-D2A293EDF9C0}"/>
              </a:ext>
            </a:extLst>
          </p:cNvPr>
          <p:cNvSpPr/>
          <p:nvPr/>
        </p:nvSpPr>
        <p:spPr>
          <a:xfrm>
            <a:off x="7315200" y="1092200"/>
            <a:ext cx="304800" cy="279400"/>
          </a:xfrm>
          <a:prstGeom prst="ellipse">
            <a:avLst/>
          </a:prstGeom>
          <a:solidFill>
            <a:srgbClr val="212529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9585D2D-32F9-1E00-3119-005458D728D5}"/>
              </a:ext>
            </a:extLst>
          </p:cNvPr>
          <p:cNvSpPr/>
          <p:nvPr/>
        </p:nvSpPr>
        <p:spPr>
          <a:xfrm>
            <a:off x="9677400" y="1092200"/>
            <a:ext cx="304800" cy="279400"/>
          </a:xfrm>
          <a:prstGeom prst="ellipse">
            <a:avLst/>
          </a:prstGeom>
          <a:solidFill>
            <a:srgbClr val="212529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8AA16E-6469-1E22-E98D-78FA393CC8F4}"/>
              </a:ext>
            </a:extLst>
          </p:cNvPr>
          <p:cNvCxnSpPr/>
          <p:nvPr/>
        </p:nvCxnSpPr>
        <p:spPr>
          <a:xfrm>
            <a:off x="2438400" y="1536700"/>
            <a:ext cx="228600" cy="0"/>
          </a:xfrm>
          <a:prstGeom prst="line">
            <a:avLst/>
          </a:prstGeom>
          <a:ln w="2540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4F0683-F27B-9D02-CB21-FD2326DDC57A}"/>
              </a:ext>
            </a:extLst>
          </p:cNvPr>
          <p:cNvCxnSpPr/>
          <p:nvPr/>
        </p:nvCxnSpPr>
        <p:spPr>
          <a:xfrm>
            <a:off x="4800600" y="1536700"/>
            <a:ext cx="228600" cy="0"/>
          </a:xfrm>
          <a:prstGeom prst="line">
            <a:avLst/>
          </a:prstGeom>
          <a:ln w="2540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E65059-1F5D-3FC7-F5A7-3440DA012B03}"/>
              </a:ext>
            </a:extLst>
          </p:cNvPr>
          <p:cNvCxnSpPr/>
          <p:nvPr/>
        </p:nvCxnSpPr>
        <p:spPr>
          <a:xfrm>
            <a:off x="7162800" y="1536700"/>
            <a:ext cx="228600" cy="0"/>
          </a:xfrm>
          <a:prstGeom prst="line">
            <a:avLst/>
          </a:prstGeom>
          <a:ln w="2540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AD6FAEB-2072-B84F-384B-EBD305179F51}"/>
              </a:ext>
            </a:extLst>
          </p:cNvPr>
          <p:cNvCxnSpPr/>
          <p:nvPr/>
        </p:nvCxnSpPr>
        <p:spPr>
          <a:xfrm>
            <a:off x="9525000" y="1536700"/>
            <a:ext cx="228600" cy="0"/>
          </a:xfrm>
          <a:prstGeom prst="line">
            <a:avLst/>
          </a:prstGeom>
          <a:ln w="2540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C21AF5D-D955-D6F2-6C8B-A7A92DA426D3}"/>
              </a:ext>
            </a:extLst>
          </p:cNvPr>
          <p:cNvSpPr/>
          <p:nvPr/>
        </p:nvSpPr>
        <p:spPr>
          <a:xfrm>
            <a:off x="3810000" y="2311400"/>
            <a:ext cx="6858000" cy="1879600"/>
          </a:xfrm>
          <a:prstGeom prst="roundRect">
            <a:avLst/>
          </a:prstGeom>
          <a:solidFill>
            <a:srgbClr val="E0F5F1"/>
          </a:solidFill>
          <a:ln w="22225">
            <a:solidFill>
              <a:srgbClr val="16A0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C9CF2B-21EC-2FEA-925C-423229B510A2}"/>
              </a:ext>
            </a:extLst>
          </p:cNvPr>
          <p:cNvSpPr txBox="1"/>
          <p:nvPr/>
        </p:nvSpPr>
        <p:spPr>
          <a:xfrm>
            <a:off x="3937000" y="2374900"/>
            <a:ext cx="660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16A085"/>
                </a:solidFill>
                <a:latin typeface="Segoe UI Semibold" panose="020B0702040204020203" pitchFamily="34" charset="0"/>
              </a:rPr>
              <a:t>Precedent Memory - hybrid retrieval (&gt;= 0.60)</a:t>
            </a:r>
            <a:endParaRPr lang="en-IN" sz="1200" b="1">
              <a:solidFill>
                <a:srgbClr val="16A085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D78F832-354D-86E4-F3D3-E66758C4C2F8}"/>
              </a:ext>
            </a:extLst>
          </p:cNvPr>
          <p:cNvSpPr/>
          <p:nvPr/>
        </p:nvSpPr>
        <p:spPr>
          <a:xfrm>
            <a:off x="3962400" y="2692400"/>
            <a:ext cx="2133600" cy="482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0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en-IN" sz="900">
                <a:solidFill>
                  <a:srgbClr val="212529"/>
                </a:solidFill>
                <a:latin typeface="Segoe UI" panose="020B0502040204020203" pitchFamily="34" charset="0"/>
              </a:rPr>
              <a:t>Azure Embedder
text-embedding-3-small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9CA8801-9EF7-144B-C0F6-147E3554A0DF}"/>
              </a:ext>
            </a:extLst>
          </p:cNvPr>
          <p:cNvSpPr/>
          <p:nvPr/>
        </p:nvSpPr>
        <p:spPr>
          <a:xfrm>
            <a:off x="6223000" y="2692400"/>
            <a:ext cx="1930400" cy="482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0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en-IN" sz="900">
                <a:solidFill>
                  <a:srgbClr val="212529"/>
                </a:solidFill>
                <a:latin typeface="Segoe UI" panose="020B0502040204020203" pitchFamily="34" charset="0"/>
              </a:rPr>
              <a:t>FAISS index
(semantic arm)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1275D47-4EFC-ACD4-531D-7D24E4C74BB3}"/>
              </a:ext>
            </a:extLst>
          </p:cNvPr>
          <p:cNvSpPr/>
          <p:nvPr/>
        </p:nvSpPr>
        <p:spPr>
          <a:xfrm>
            <a:off x="8280400" y="2692400"/>
            <a:ext cx="2235200" cy="482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0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en-IN" sz="900">
                <a:solidFill>
                  <a:srgbClr val="212529"/>
                </a:solidFill>
                <a:latin typeface="Segoe UI" panose="020B0502040204020203" pitchFamily="34" charset="0"/>
              </a:rPr>
              <a:t>Postgres FTS
(keyword arm)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E3376EA-72C8-6F14-BE2A-67B3C6BFE3B1}"/>
              </a:ext>
            </a:extLst>
          </p:cNvPr>
          <p:cNvSpPr/>
          <p:nvPr/>
        </p:nvSpPr>
        <p:spPr>
          <a:xfrm>
            <a:off x="3962400" y="3276600"/>
            <a:ext cx="3251200" cy="609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0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en-IN" sz="900">
                <a:solidFill>
                  <a:srgbClr val="212529"/>
                </a:solidFill>
                <a:latin typeface="Segoe UI" panose="020B0502040204020203" pitchFamily="34" charset="0"/>
              </a:rPr>
              <a:t>RRF fusion -&gt; noisy-OR
confidence &gt;= 0.60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2B37528-CFB5-7D49-89B3-C2693D75F9A8}"/>
              </a:ext>
            </a:extLst>
          </p:cNvPr>
          <p:cNvSpPr/>
          <p:nvPr/>
        </p:nvSpPr>
        <p:spPr>
          <a:xfrm>
            <a:off x="7340600" y="3276600"/>
            <a:ext cx="3175000" cy="609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0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en-US" sz="900">
                <a:solidFill>
                  <a:srgbClr val="212529"/>
                </a:solidFill>
                <a:latin typeface="Segoe UI" panose="020B0502040204020203" pitchFamily="34" charset="0"/>
              </a:rPr>
              <a:t>HistoricalIncident store
approved / rejected outcome</a:t>
            </a:r>
            <a:endParaRPr lang="en-IN" sz="900">
              <a:solidFill>
                <a:srgbClr val="212529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70D8392-9601-01C2-3B3A-7A883623CFBB}"/>
              </a:ext>
            </a:extLst>
          </p:cNvPr>
          <p:cNvSpPr/>
          <p:nvPr/>
        </p:nvSpPr>
        <p:spPr>
          <a:xfrm>
            <a:off x="7112000" y="1905000"/>
            <a:ext cx="2540000" cy="355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4E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en-US" sz="900">
                <a:solidFill>
                  <a:srgbClr val="212529"/>
                </a:solidFill>
                <a:latin typeface="Segoe UI" panose="020B0502040204020203" pitchFamily="34" charset="0"/>
              </a:rPr>
              <a:t>Azure OpenAI (GPT) - RCA synthesis</a:t>
            </a:r>
            <a:endParaRPr lang="en-IN" sz="900">
              <a:solidFill>
                <a:srgbClr val="212529"/>
              </a:solidFill>
              <a:latin typeface="Segoe UI" panose="020B0502040204020203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9C2FF98-95ED-CD7B-6223-80939ED9F6E5}"/>
              </a:ext>
            </a:extLst>
          </p:cNvPr>
          <p:cNvCxnSpPr/>
          <p:nvPr/>
        </p:nvCxnSpPr>
        <p:spPr>
          <a:xfrm flipV="1">
            <a:off x="9652000" y="1905000"/>
            <a:ext cx="228600" cy="76200"/>
          </a:xfrm>
          <a:prstGeom prst="line">
            <a:avLst/>
          </a:prstGeom>
          <a:ln w="25400">
            <a:solidFill>
              <a:srgbClr val="5B4E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AED4F33-87B4-704A-EB6F-A7B5DAF4A536}"/>
              </a:ext>
            </a:extLst>
          </p:cNvPr>
          <p:cNvCxnSpPr/>
          <p:nvPr/>
        </p:nvCxnSpPr>
        <p:spPr>
          <a:xfrm>
            <a:off x="10160000" y="1905000"/>
            <a:ext cx="0" cy="406400"/>
          </a:xfrm>
          <a:prstGeom prst="line">
            <a:avLst/>
          </a:prstGeom>
          <a:ln w="25400">
            <a:solidFill>
              <a:srgbClr val="16A0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FEF8957-EFE9-CCEC-9574-5CB60DBEC6DF}"/>
              </a:ext>
            </a:extLst>
          </p:cNvPr>
          <p:cNvSpPr txBox="1"/>
          <p:nvPr/>
        </p:nvSpPr>
        <p:spPr>
          <a:xfrm>
            <a:off x="10457861" y="1988234"/>
            <a:ext cx="1651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800" i="1" dirty="0" err="1">
                <a:solidFill>
                  <a:srgbClr val="16A085"/>
                </a:solidFill>
                <a:latin typeface="Segoe UI" panose="020B0502040204020203" pitchFamily="34" charset="0"/>
              </a:rPr>
              <a:t>find_precedents</a:t>
            </a:r>
            <a:r>
              <a:rPr lang="en-IN" sz="800" i="1" dirty="0">
                <a:solidFill>
                  <a:srgbClr val="16A085"/>
                </a:solidFill>
                <a:latin typeface="Segoe UI" panose="020B0502040204020203" pitchFamily="34" charset="0"/>
              </a:rPr>
              <a:t>()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6C33E1A-6F8C-A339-8A26-F87B95FDE63F}"/>
              </a:ext>
            </a:extLst>
          </p:cNvPr>
          <p:cNvCxnSpPr/>
          <p:nvPr/>
        </p:nvCxnSpPr>
        <p:spPr>
          <a:xfrm>
            <a:off x="10820400" y="1905000"/>
            <a:ext cx="0" cy="302260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FEB50C8-314E-03D0-3482-4C759C51E67F}"/>
              </a:ext>
            </a:extLst>
          </p:cNvPr>
          <p:cNvSpPr txBox="1"/>
          <p:nvPr/>
        </p:nvSpPr>
        <p:spPr>
          <a:xfrm>
            <a:off x="10396979" y="3880078"/>
            <a:ext cx="190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800" i="1" dirty="0">
                <a:solidFill>
                  <a:srgbClr val="1F4E79"/>
                </a:solidFill>
                <a:latin typeface="Segoe UI" panose="020B0502040204020203" pitchFamily="34" charset="0"/>
              </a:rPr>
              <a:t>-&gt; </a:t>
            </a:r>
            <a:r>
              <a:rPr lang="en-IN" sz="800" i="1" dirty="0" err="1">
                <a:solidFill>
                  <a:srgbClr val="1F4E79"/>
                </a:solidFill>
                <a:latin typeface="Segoe UI" panose="020B0502040204020203" pitchFamily="34" charset="0"/>
              </a:rPr>
              <a:t>root_cause_report</a:t>
            </a:r>
            <a:endParaRPr lang="en-IN" sz="800" i="1" dirty="0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099E54F-AFA8-E560-1093-0FF0E9F2A221}"/>
              </a:ext>
            </a:extLst>
          </p:cNvPr>
          <p:cNvSpPr/>
          <p:nvPr/>
        </p:nvSpPr>
        <p:spPr>
          <a:xfrm>
            <a:off x="9753600" y="4927600"/>
            <a:ext cx="2133600" cy="736600"/>
          </a:xfrm>
          <a:prstGeom prst="roundRect">
            <a:avLst/>
          </a:prstGeom>
          <a:solidFill>
            <a:srgbClr val="5B4E9C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root_cause_report
+ precedent block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AFA59BB-99F2-B745-2C8C-DAA99170794A}"/>
              </a:ext>
            </a:extLst>
          </p:cNvPr>
          <p:cNvSpPr/>
          <p:nvPr/>
        </p:nvSpPr>
        <p:spPr>
          <a:xfrm>
            <a:off x="7391400" y="4927600"/>
            <a:ext cx="2133600" cy="7366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ServiceNow Sink
real INC ticket</a:t>
            </a:r>
            <a:endParaRPr lang="en-IN" sz="1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AEA76B5-E17F-DA62-9549-1A0053270D88}"/>
              </a:ext>
            </a:extLst>
          </p:cNvPr>
          <p:cNvSpPr/>
          <p:nvPr/>
        </p:nvSpPr>
        <p:spPr>
          <a:xfrm>
            <a:off x="5029200" y="4927600"/>
            <a:ext cx="2133600" cy="736600"/>
          </a:xfrm>
          <a:prstGeom prst="roundRect">
            <a:avLst/>
          </a:prstGeom>
          <a:solidFill>
            <a:srgbClr val="D68910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HITL Approval
(Streamlit)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25EC660-B10C-BCFD-7422-7444256B7934}"/>
              </a:ext>
            </a:extLst>
          </p:cNvPr>
          <p:cNvSpPr/>
          <p:nvPr/>
        </p:nvSpPr>
        <p:spPr>
          <a:xfrm>
            <a:off x="2667000" y="4927600"/>
            <a:ext cx="2133600" cy="7366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LangGraph Remediation
validate-&gt;execute-&gt;verify</a:t>
            </a:r>
            <a:endParaRPr lang="en-IN" sz="1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0BD3F98-63A8-ABA0-DBB1-A4E32D4B22D6}"/>
              </a:ext>
            </a:extLst>
          </p:cNvPr>
          <p:cNvSpPr/>
          <p:nvPr/>
        </p:nvSpPr>
        <p:spPr>
          <a:xfrm>
            <a:off x="304800" y="4927600"/>
            <a:ext cx="2133600" cy="736600"/>
          </a:xfrm>
          <a:prstGeom prst="roundRect">
            <a:avLst/>
          </a:prstGeom>
          <a:solidFill>
            <a:srgbClr val="1F9D57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MCP Layer (A/B switch)
Jira ticket -&gt; Done</a:t>
            </a:r>
            <a:endParaRPr lang="en-IN" sz="1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CBD7325-5EC8-2618-8FD1-F2BB5C7FC463}"/>
              </a:ext>
            </a:extLst>
          </p:cNvPr>
          <p:cNvSpPr/>
          <p:nvPr/>
        </p:nvSpPr>
        <p:spPr>
          <a:xfrm>
            <a:off x="9677400" y="4851400"/>
            <a:ext cx="304800" cy="279400"/>
          </a:xfrm>
          <a:prstGeom prst="ellipse">
            <a:avLst/>
          </a:prstGeom>
          <a:solidFill>
            <a:srgbClr val="212529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27950E0-D25F-218C-EDC1-B0BA7C99A85E}"/>
              </a:ext>
            </a:extLst>
          </p:cNvPr>
          <p:cNvSpPr/>
          <p:nvPr/>
        </p:nvSpPr>
        <p:spPr>
          <a:xfrm>
            <a:off x="7315200" y="4851400"/>
            <a:ext cx="304800" cy="279400"/>
          </a:xfrm>
          <a:prstGeom prst="ellipse">
            <a:avLst/>
          </a:prstGeom>
          <a:solidFill>
            <a:srgbClr val="212529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7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80A290E-DC3F-DDA7-D1B9-A41A9F689064}"/>
              </a:ext>
            </a:extLst>
          </p:cNvPr>
          <p:cNvSpPr/>
          <p:nvPr/>
        </p:nvSpPr>
        <p:spPr>
          <a:xfrm>
            <a:off x="4953000" y="4851400"/>
            <a:ext cx="304800" cy="279400"/>
          </a:xfrm>
          <a:prstGeom prst="ellipse">
            <a:avLst/>
          </a:prstGeom>
          <a:solidFill>
            <a:srgbClr val="212529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8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1EE1A02-C674-5E27-A0B3-C70103FE2247}"/>
              </a:ext>
            </a:extLst>
          </p:cNvPr>
          <p:cNvSpPr/>
          <p:nvPr/>
        </p:nvSpPr>
        <p:spPr>
          <a:xfrm>
            <a:off x="2590800" y="4851400"/>
            <a:ext cx="304800" cy="279400"/>
          </a:xfrm>
          <a:prstGeom prst="ellipse">
            <a:avLst/>
          </a:prstGeom>
          <a:solidFill>
            <a:srgbClr val="212529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9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E5DAC3D-FEC6-2BF9-002E-CB285CC12A6E}"/>
              </a:ext>
            </a:extLst>
          </p:cNvPr>
          <p:cNvSpPr/>
          <p:nvPr/>
        </p:nvSpPr>
        <p:spPr>
          <a:xfrm>
            <a:off x="228600" y="4851400"/>
            <a:ext cx="304800" cy="279400"/>
          </a:xfrm>
          <a:prstGeom prst="ellipse">
            <a:avLst/>
          </a:prstGeom>
          <a:solidFill>
            <a:srgbClr val="212529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10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1E19FB8-BA5F-08CC-EE01-E665AC7E6358}"/>
              </a:ext>
            </a:extLst>
          </p:cNvPr>
          <p:cNvCxnSpPr/>
          <p:nvPr/>
        </p:nvCxnSpPr>
        <p:spPr>
          <a:xfrm flipH="1">
            <a:off x="9525000" y="5295900"/>
            <a:ext cx="228600" cy="0"/>
          </a:xfrm>
          <a:prstGeom prst="line">
            <a:avLst/>
          </a:prstGeom>
          <a:ln w="2540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B22C65D-3B85-8713-7DAC-816D08E52219}"/>
              </a:ext>
            </a:extLst>
          </p:cNvPr>
          <p:cNvCxnSpPr/>
          <p:nvPr/>
        </p:nvCxnSpPr>
        <p:spPr>
          <a:xfrm flipH="1">
            <a:off x="7162800" y="5295900"/>
            <a:ext cx="228600" cy="0"/>
          </a:xfrm>
          <a:prstGeom prst="line">
            <a:avLst/>
          </a:prstGeom>
          <a:ln w="2540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71E56C8-0148-0865-E9C4-B9AFD3BFA5CF}"/>
              </a:ext>
            </a:extLst>
          </p:cNvPr>
          <p:cNvCxnSpPr/>
          <p:nvPr/>
        </p:nvCxnSpPr>
        <p:spPr>
          <a:xfrm flipH="1">
            <a:off x="4800600" y="5295900"/>
            <a:ext cx="228600" cy="0"/>
          </a:xfrm>
          <a:prstGeom prst="line">
            <a:avLst/>
          </a:prstGeom>
          <a:ln w="2540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C74601D-A0AE-5D25-57E5-339FA1ACE20A}"/>
              </a:ext>
            </a:extLst>
          </p:cNvPr>
          <p:cNvCxnSpPr/>
          <p:nvPr/>
        </p:nvCxnSpPr>
        <p:spPr>
          <a:xfrm flipH="1">
            <a:off x="2438400" y="5295900"/>
            <a:ext cx="228600" cy="0"/>
          </a:xfrm>
          <a:prstGeom prst="line">
            <a:avLst/>
          </a:prstGeom>
          <a:ln w="2540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031DB63-2A8F-8D52-3D17-7017BFB51A9D}"/>
              </a:ext>
            </a:extLst>
          </p:cNvPr>
          <p:cNvSpPr/>
          <p:nvPr/>
        </p:nvSpPr>
        <p:spPr>
          <a:xfrm>
            <a:off x="304800" y="3175000"/>
            <a:ext cx="2133600" cy="6604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capture_precedent
-&gt; learn (approved)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F9CE741-752E-8215-E7C9-14B1CD201588}"/>
              </a:ext>
            </a:extLst>
          </p:cNvPr>
          <p:cNvSpPr/>
          <p:nvPr/>
        </p:nvSpPr>
        <p:spPr>
          <a:xfrm>
            <a:off x="304800" y="2362200"/>
            <a:ext cx="2133600" cy="6604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ServiceNow Resolved
close-notes cite Jira key</a:t>
            </a:r>
            <a:endParaRPr lang="en-IN" sz="1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BA28BC9-F56E-87A9-D8C1-5071AE9A004B}"/>
              </a:ext>
            </a:extLst>
          </p:cNvPr>
          <p:cNvCxnSpPr/>
          <p:nvPr/>
        </p:nvCxnSpPr>
        <p:spPr>
          <a:xfrm flipV="1">
            <a:off x="1371600" y="3835400"/>
            <a:ext cx="0" cy="1092200"/>
          </a:xfrm>
          <a:prstGeom prst="line">
            <a:avLst/>
          </a:prstGeom>
          <a:ln w="25400">
            <a:solidFill>
              <a:srgbClr val="16A0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A2ACDD4-D9AA-8A46-9516-20F6AA1E32DA}"/>
              </a:ext>
            </a:extLst>
          </p:cNvPr>
          <p:cNvCxnSpPr/>
          <p:nvPr/>
        </p:nvCxnSpPr>
        <p:spPr>
          <a:xfrm flipV="1">
            <a:off x="1371600" y="3022600"/>
            <a:ext cx="0" cy="152400"/>
          </a:xfrm>
          <a:prstGeom prst="line">
            <a:avLst/>
          </a:prstGeom>
          <a:ln w="25400">
            <a:solidFill>
              <a:srgbClr val="D35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489A248-1695-3F9D-90B0-AD271E26EF4D}"/>
              </a:ext>
            </a:extLst>
          </p:cNvPr>
          <p:cNvCxnSpPr/>
          <p:nvPr/>
        </p:nvCxnSpPr>
        <p:spPr>
          <a:xfrm flipV="1">
            <a:off x="2438400" y="3251200"/>
            <a:ext cx="1371600" cy="101600"/>
          </a:xfrm>
          <a:prstGeom prst="line">
            <a:avLst/>
          </a:prstGeom>
          <a:ln w="25400">
            <a:solidFill>
              <a:srgbClr val="16A0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08ACE59-2FDF-B429-DC7A-BD0AD686ECBB}"/>
              </a:ext>
            </a:extLst>
          </p:cNvPr>
          <p:cNvSpPr txBox="1"/>
          <p:nvPr/>
        </p:nvSpPr>
        <p:spPr>
          <a:xfrm>
            <a:off x="2489200" y="3098800"/>
            <a:ext cx="1397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800" i="1">
                <a:solidFill>
                  <a:srgbClr val="16A085"/>
                </a:solidFill>
                <a:latin typeface="Segoe UI" panose="020B0502040204020203" pitchFamily="34" charset="0"/>
              </a:rPr>
              <a:t>feedback: re-embed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7A9A24-65D6-1C06-6F93-F596D9DA79B1}"/>
              </a:ext>
            </a:extLst>
          </p:cNvPr>
          <p:cNvSpPr txBox="1"/>
          <p:nvPr/>
        </p:nvSpPr>
        <p:spPr>
          <a:xfrm>
            <a:off x="3810000" y="4394200"/>
            <a:ext cx="685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 i="1" dirty="0">
                <a:solidFill>
                  <a:srgbClr val="7F8C8D"/>
                </a:solidFill>
                <a:latin typeface="Segoe UI" panose="020B0502040204020203" pitchFamily="34" charset="0"/>
              </a:rPr>
              <a:t>Verified =&gt; Jira Done + ServiceNow Resolved (cross-linked).   Failed/unverified =&gt; Jira stays Open.</a:t>
            </a:r>
            <a:endParaRPr lang="en-IN" sz="1100" b="1" i="1" dirty="0">
              <a:solidFill>
                <a:srgbClr val="7F8C8D"/>
              </a:solidFill>
              <a:latin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B1AE8A-D562-5A44-BFA7-DAB3A19F1C4F}"/>
              </a:ext>
            </a:extLst>
          </p:cNvPr>
          <p:cNvSpPr txBox="1"/>
          <p:nvPr/>
        </p:nvSpPr>
        <p:spPr>
          <a:xfrm>
            <a:off x="203200" y="6121400"/>
            <a:ext cx="254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 b="1" dirty="0" err="1">
                <a:solidFill>
                  <a:srgbClr val="212529"/>
                </a:solidFill>
                <a:latin typeface="Segoe UI Semibold" panose="020B0702040204020203" pitchFamily="34" charset="0"/>
              </a:rPr>
              <a:t>Color</a:t>
            </a:r>
            <a:r>
              <a:rPr lang="en-IN" sz="900" b="1" dirty="0">
                <a:solidFill>
                  <a:srgbClr val="212529"/>
                </a:solidFill>
                <a:latin typeface="Segoe UI Semibold" panose="020B0702040204020203" pitchFamily="34" charset="0"/>
              </a:rPr>
              <a:t> legend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09D6B03-66A9-1BD0-5607-E3AF28184A99}"/>
              </a:ext>
            </a:extLst>
          </p:cNvPr>
          <p:cNvSpPr/>
          <p:nvPr/>
        </p:nvSpPr>
        <p:spPr>
          <a:xfrm>
            <a:off x="304800" y="6350000"/>
            <a:ext cx="165100" cy="1651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EB7B02-3EAA-D67E-F9FD-3FB2D5BEC9DA}"/>
              </a:ext>
            </a:extLst>
          </p:cNvPr>
          <p:cNvSpPr txBox="1"/>
          <p:nvPr/>
        </p:nvSpPr>
        <p:spPr>
          <a:xfrm>
            <a:off x="520700" y="6311900"/>
            <a:ext cx="26162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800">
                <a:solidFill>
                  <a:srgbClr val="212529"/>
                </a:solidFill>
                <a:latin typeface="Segoe UI" panose="020B0502040204020203" pitchFamily="34" charset="0"/>
              </a:rPr>
              <a:t>Ingestion &amp; Detection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5AF19C2-78E3-B44D-05F2-EE9413C157B8}"/>
              </a:ext>
            </a:extLst>
          </p:cNvPr>
          <p:cNvSpPr/>
          <p:nvPr/>
        </p:nvSpPr>
        <p:spPr>
          <a:xfrm>
            <a:off x="3200400" y="6350000"/>
            <a:ext cx="165100" cy="165100"/>
          </a:xfrm>
          <a:prstGeom prst="roundRect">
            <a:avLst/>
          </a:prstGeom>
          <a:solidFill>
            <a:srgbClr val="5B4E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07796CA-B9F9-6FF1-F021-4F602F9DFF1D}"/>
              </a:ext>
            </a:extLst>
          </p:cNvPr>
          <p:cNvSpPr txBox="1"/>
          <p:nvPr/>
        </p:nvSpPr>
        <p:spPr>
          <a:xfrm>
            <a:off x="3416300" y="6311900"/>
            <a:ext cx="26162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800">
                <a:solidFill>
                  <a:srgbClr val="212529"/>
                </a:solidFill>
                <a:latin typeface="Segoe UI" panose="020B0502040204020203" pitchFamily="34" charset="0"/>
              </a:rPr>
              <a:t>AI Diagnosis (LLM RCA)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A7554A2-A5A5-4892-CCA7-CA9351107A24}"/>
              </a:ext>
            </a:extLst>
          </p:cNvPr>
          <p:cNvSpPr/>
          <p:nvPr/>
        </p:nvSpPr>
        <p:spPr>
          <a:xfrm>
            <a:off x="6096000" y="6350000"/>
            <a:ext cx="165100" cy="1651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631E81-9D3C-631D-AB99-5A02F4F729F7}"/>
              </a:ext>
            </a:extLst>
          </p:cNvPr>
          <p:cNvSpPr txBox="1"/>
          <p:nvPr/>
        </p:nvSpPr>
        <p:spPr>
          <a:xfrm>
            <a:off x="6311900" y="6311900"/>
            <a:ext cx="26162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800">
                <a:solidFill>
                  <a:srgbClr val="212529"/>
                </a:solidFill>
                <a:latin typeface="Segoe UI" panose="020B0502040204020203" pitchFamily="34" charset="0"/>
              </a:rPr>
              <a:t>Precedent Memory (learning)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1192B227-025F-6B2F-DB37-0B99C9562656}"/>
              </a:ext>
            </a:extLst>
          </p:cNvPr>
          <p:cNvSpPr/>
          <p:nvPr/>
        </p:nvSpPr>
        <p:spPr>
          <a:xfrm>
            <a:off x="8991600" y="6350000"/>
            <a:ext cx="165100" cy="165100"/>
          </a:xfrm>
          <a:prstGeom prst="roundRect">
            <a:avLst/>
          </a:prstGeom>
          <a:solidFill>
            <a:srgbClr val="D689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D04DB9-89B5-72E7-2338-66CF83696E6A}"/>
              </a:ext>
            </a:extLst>
          </p:cNvPr>
          <p:cNvSpPr txBox="1"/>
          <p:nvPr/>
        </p:nvSpPr>
        <p:spPr>
          <a:xfrm>
            <a:off x="9207500" y="6311900"/>
            <a:ext cx="26162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800">
                <a:solidFill>
                  <a:srgbClr val="212529"/>
                </a:solidFill>
                <a:latin typeface="Segoe UI" panose="020B0502040204020203" pitchFamily="34" charset="0"/>
              </a:rPr>
              <a:t>Human Approval (HITL)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7F6D6B5-CB8E-0B79-384C-0EB60D247EA7}"/>
              </a:ext>
            </a:extLst>
          </p:cNvPr>
          <p:cNvSpPr/>
          <p:nvPr/>
        </p:nvSpPr>
        <p:spPr>
          <a:xfrm>
            <a:off x="304800" y="6604000"/>
            <a:ext cx="165100" cy="1651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7710F0-E536-10B6-00BA-728B07E40707}"/>
              </a:ext>
            </a:extLst>
          </p:cNvPr>
          <p:cNvSpPr txBox="1"/>
          <p:nvPr/>
        </p:nvSpPr>
        <p:spPr>
          <a:xfrm>
            <a:off x="520700" y="6565900"/>
            <a:ext cx="26162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800">
                <a:solidFill>
                  <a:srgbClr val="212529"/>
                </a:solidFill>
                <a:latin typeface="Segoe UI" panose="020B0502040204020203" pitchFamily="34" charset="0"/>
              </a:rPr>
              <a:t>Remediation (LangGraph)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601196CB-15D0-0681-2C17-88C107898848}"/>
              </a:ext>
            </a:extLst>
          </p:cNvPr>
          <p:cNvSpPr/>
          <p:nvPr/>
        </p:nvSpPr>
        <p:spPr>
          <a:xfrm>
            <a:off x="3200400" y="6604000"/>
            <a:ext cx="165100" cy="1651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1B67DCC-2D82-FA78-E7C4-7DA8CB4D2D74}"/>
              </a:ext>
            </a:extLst>
          </p:cNvPr>
          <p:cNvSpPr txBox="1"/>
          <p:nvPr/>
        </p:nvSpPr>
        <p:spPr>
          <a:xfrm>
            <a:off x="3416300" y="6565900"/>
            <a:ext cx="26162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800">
                <a:solidFill>
                  <a:srgbClr val="212529"/>
                </a:solidFill>
                <a:latin typeface="Segoe UI" panose="020B0502040204020203" pitchFamily="34" charset="0"/>
              </a:rPr>
              <a:t>ServiceNow (ITSM)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404E4157-AC4C-6EEF-043B-4A9A57B54183}"/>
              </a:ext>
            </a:extLst>
          </p:cNvPr>
          <p:cNvSpPr/>
          <p:nvPr/>
        </p:nvSpPr>
        <p:spPr>
          <a:xfrm>
            <a:off x="6096000" y="6604000"/>
            <a:ext cx="165100" cy="165100"/>
          </a:xfrm>
          <a:prstGeom prst="roundRect">
            <a:avLst/>
          </a:prstGeom>
          <a:solidFill>
            <a:srgbClr val="1F9D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B88B30E-4B36-D2E9-C938-DD7EBFCF477D}"/>
              </a:ext>
            </a:extLst>
          </p:cNvPr>
          <p:cNvSpPr txBox="1"/>
          <p:nvPr/>
        </p:nvSpPr>
        <p:spPr>
          <a:xfrm>
            <a:off x="6311900" y="6565900"/>
            <a:ext cx="26162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800">
                <a:solidFill>
                  <a:srgbClr val="212529"/>
                </a:solidFill>
                <a:latin typeface="Segoe UI" panose="020B0502040204020203" pitchFamily="34" charset="0"/>
              </a:rPr>
              <a:t>Jira audit via MCP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90534100-FD23-F75C-E420-9C1ADCDAD070}"/>
              </a:ext>
            </a:extLst>
          </p:cNvPr>
          <p:cNvSpPr/>
          <p:nvPr/>
        </p:nvSpPr>
        <p:spPr>
          <a:xfrm>
            <a:off x="8991600" y="6604000"/>
            <a:ext cx="165100" cy="1651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27BBC7F-FD19-DB73-BA6A-807223557105}"/>
              </a:ext>
            </a:extLst>
          </p:cNvPr>
          <p:cNvSpPr txBox="1"/>
          <p:nvPr/>
        </p:nvSpPr>
        <p:spPr>
          <a:xfrm>
            <a:off x="9207500" y="6565900"/>
            <a:ext cx="26162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800">
                <a:solidFill>
                  <a:srgbClr val="212529"/>
                </a:solidFill>
                <a:latin typeface="Segoe UI" panose="020B0502040204020203" pitchFamily="34" charset="0"/>
              </a:rPr>
              <a:t>Orchestration / transport</a:t>
            </a:r>
          </a:p>
        </p:txBody>
      </p:sp>
    </p:spTree>
    <p:extLst>
      <p:ext uri="{BB962C8B-B14F-4D97-AF65-F5344CB8AC3E}">
        <p14:creationId xmlns:p14="http://schemas.microsoft.com/office/powerpoint/2010/main" val="3212656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CBA6F-7B66-8A7F-F9FB-C275D1FC0FD3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3F248-AA84-A963-F27D-438B5D5FE26D}"/>
              </a:ext>
            </a:extLst>
          </p:cNvPr>
          <p:cNvSpPr txBox="1"/>
          <p:nvPr/>
        </p:nvSpPr>
        <p:spPr>
          <a:xfrm>
            <a:off x="304800" y="101600"/>
            <a:ext cx="115824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Segoe UI Semibold" panose="020B0702040204020203" pitchFamily="34" charset="0"/>
              </a:rPr>
              <a:t>MCP Integration LLD - Part A (own server) vs Part B (Atlassian hosted)</a:t>
            </a:r>
            <a:endParaRPr lang="en-IN" sz="19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80239-223D-B82B-7E01-047830F4B162}"/>
              </a:ext>
            </a:extLst>
          </p:cNvPr>
          <p:cNvSpPr txBox="1"/>
          <p:nvPr/>
        </p:nvSpPr>
        <p:spPr>
          <a:xfrm>
            <a:off x="304800" y="685800"/>
            <a:ext cx="1158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 i="1" dirty="0">
                <a:solidFill>
                  <a:srgbClr val="7F8C8D"/>
                </a:solidFill>
                <a:latin typeface="Segoe UI" panose="020B0502040204020203" pitchFamily="34" charset="0"/>
              </a:rPr>
              <a:t>One config line (</a:t>
            </a:r>
            <a:r>
              <a:rPr lang="en-US" sz="1100" b="1" i="1" dirty="0" err="1">
                <a:solidFill>
                  <a:srgbClr val="7F8C8D"/>
                </a:solidFill>
                <a:latin typeface="Segoe UI" panose="020B0502040204020203" pitchFamily="34" charset="0"/>
              </a:rPr>
              <a:t>jira_mcp_server</a:t>
            </a:r>
            <a:r>
              <a:rPr lang="en-US" sz="1100" b="1" i="1" dirty="0">
                <a:solidFill>
                  <a:srgbClr val="7F8C8D"/>
                </a:solidFill>
                <a:latin typeface="Segoe UI" panose="020B0502040204020203" pitchFamily="34" charset="0"/>
              </a:rPr>
              <a:t>: own | </a:t>
            </a:r>
            <a:r>
              <a:rPr lang="en-US" sz="1100" b="1" i="1" dirty="0" err="1">
                <a:solidFill>
                  <a:srgbClr val="7F8C8D"/>
                </a:solidFill>
                <a:latin typeface="Segoe UI" panose="020B0502040204020203" pitchFamily="34" charset="0"/>
              </a:rPr>
              <a:t>atlassian</a:t>
            </a:r>
            <a:r>
              <a:rPr lang="en-US" sz="1100" b="1" i="1" dirty="0">
                <a:solidFill>
                  <a:srgbClr val="7F8C8D"/>
                </a:solidFill>
                <a:latin typeface="Segoe UI" panose="020B0502040204020203" pitchFamily="34" charset="0"/>
              </a:rPr>
              <a:t>) swaps the backend - pipeline code unchanged</a:t>
            </a:r>
            <a:endParaRPr lang="en-IN" sz="1100" b="1" i="1" dirty="0">
              <a:solidFill>
                <a:srgbClr val="7F8C8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982D25-4995-4420-721A-A2B77C2B5EC1}"/>
              </a:ext>
            </a:extLst>
          </p:cNvPr>
          <p:cNvSpPr/>
          <p:nvPr/>
        </p:nvSpPr>
        <p:spPr>
          <a:xfrm>
            <a:off x="304800" y="1066800"/>
            <a:ext cx="2692400" cy="5334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run_workflow
(fix verified)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C3C37FA-ED18-1738-ABC2-E302D0FCF148}"/>
              </a:ext>
            </a:extLst>
          </p:cNvPr>
          <p:cNvSpPr/>
          <p:nvPr/>
        </p:nvSpPr>
        <p:spPr>
          <a:xfrm>
            <a:off x="3200400" y="1066800"/>
            <a:ext cx="2692400" cy="533400"/>
          </a:xfrm>
          <a:prstGeom prst="roundRect">
            <a:avLst/>
          </a:prstGeom>
          <a:solidFill>
            <a:srgbClr val="1F9D57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jira_feedback
create_jira_ticket()</a:t>
            </a:r>
            <a:endParaRPr lang="en-IN" sz="1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593090-374C-CF75-3481-39FBC093098C}"/>
              </a:ext>
            </a:extLst>
          </p:cNvPr>
          <p:cNvSpPr/>
          <p:nvPr/>
        </p:nvSpPr>
        <p:spPr>
          <a:xfrm>
            <a:off x="6096000" y="1066800"/>
            <a:ext cx="2692400" cy="533400"/>
          </a:xfrm>
          <a:prstGeom prst="roundRect">
            <a:avLst/>
          </a:prstGeom>
          <a:solidFill>
            <a:srgbClr val="1F9D57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jira_mcp_client
file_ticket(mark_done)</a:t>
            </a:r>
            <a:endParaRPr lang="en-IN" sz="1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36B344-FF97-E252-4FD0-5B1F1C250499}"/>
              </a:ext>
            </a:extLst>
          </p:cNvPr>
          <p:cNvSpPr/>
          <p:nvPr/>
        </p:nvSpPr>
        <p:spPr>
          <a:xfrm>
            <a:off x="8991600" y="1066800"/>
            <a:ext cx="2692400" cy="5334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switch
config.jira_mcp_server</a:t>
            </a:r>
            <a:endParaRPr lang="en-IN" sz="1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E768E0-9027-5E26-97C1-4072B552FCF4}"/>
              </a:ext>
            </a:extLst>
          </p:cNvPr>
          <p:cNvCxnSpPr/>
          <p:nvPr/>
        </p:nvCxnSpPr>
        <p:spPr>
          <a:xfrm>
            <a:off x="2997200" y="1333500"/>
            <a:ext cx="203200" cy="0"/>
          </a:xfrm>
          <a:prstGeom prst="line">
            <a:avLst/>
          </a:prstGeom>
          <a:ln w="2540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FCA7EC-6794-5B0B-1495-944E6553265F}"/>
              </a:ext>
            </a:extLst>
          </p:cNvPr>
          <p:cNvCxnSpPr/>
          <p:nvPr/>
        </p:nvCxnSpPr>
        <p:spPr>
          <a:xfrm>
            <a:off x="5892800" y="1333500"/>
            <a:ext cx="203200" cy="0"/>
          </a:xfrm>
          <a:prstGeom prst="line">
            <a:avLst/>
          </a:prstGeom>
          <a:ln w="2540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2A6028-6854-1F7A-261A-7FA5B12F3B51}"/>
              </a:ext>
            </a:extLst>
          </p:cNvPr>
          <p:cNvCxnSpPr/>
          <p:nvPr/>
        </p:nvCxnSpPr>
        <p:spPr>
          <a:xfrm>
            <a:off x="8788400" y="1333500"/>
            <a:ext cx="203200" cy="0"/>
          </a:xfrm>
          <a:prstGeom prst="line">
            <a:avLst/>
          </a:prstGeom>
          <a:ln w="2540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FCA88A-866A-2172-6EFE-9B125B79EE8D}"/>
              </a:ext>
            </a:extLst>
          </p:cNvPr>
          <p:cNvCxnSpPr/>
          <p:nvPr/>
        </p:nvCxnSpPr>
        <p:spPr>
          <a:xfrm flipH="1">
            <a:off x="3175000" y="1600200"/>
            <a:ext cx="6477000" cy="50800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7026C3-9D5B-7F1A-2C76-F215A74A23C4}"/>
              </a:ext>
            </a:extLst>
          </p:cNvPr>
          <p:cNvCxnSpPr/>
          <p:nvPr/>
        </p:nvCxnSpPr>
        <p:spPr>
          <a:xfrm flipH="1">
            <a:off x="9017000" y="1600200"/>
            <a:ext cx="1447800" cy="50800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02023BC-9A58-FD66-A24D-D5EAF50DB9CA}"/>
              </a:ext>
            </a:extLst>
          </p:cNvPr>
          <p:cNvSpPr txBox="1"/>
          <p:nvPr/>
        </p:nvSpPr>
        <p:spPr>
          <a:xfrm>
            <a:off x="889000" y="18796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900" i="1" dirty="0">
                <a:solidFill>
                  <a:srgbClr val="1F9D57"/>
                </a:solidFill>
                <a:latin typeface="Segoe UI" panose="020B0502040204020203" pitchFamily="34" charset="0"/>
              </a:rPr>
              <a:t>own  (default - unattended)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750E91-E303-91E9-4D9C-4919BB45BD48}"/>
              </a:ext>
            </a:extLst>
          </p:cNvPr>
          <p:cNvSpPr txBox="1"/>
          <p:nvPr/>
        </p:nvSpPr>
        <p:spPr>
          <a:xfrm>
            <a:off x="6731000" y="1862904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900" i="1" dirty="0" err="1">
                <a:solidFill>
                  <a:srgbClr val="D35400"/>
                </a:solidFill>
                <a:latin typeface="Segoe UI" panose="020B0502040204020203" pitchFamily="34" charset="0"/>
              </a:rPr>
              <a:t>atlassian</a:t>
            </a:r>
            <a:r>
              <a:rPr lang="en-IN" sz="900" i="1" dirty="0">
                <a:solidFill>
                  <a:srgbClr val="D35400"/>
                </a:solidFill>
                <a:latin typeface="Segoe UI" panose="020B0502040204020203" pitchFamily="34" charset="0"/>
              </a:rPr>
              <a:t>  (official hosted)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B82C4DA-8A04-2FBE-A3C6-6918BF52F3B8}"/>
              </a:ext>
            </a:extLst>
          </p:cNvPr>
          <p:cNvSpPr/>
          <p:nvPr/>
        </p:nvSpPr>
        <p:spPr>
          <a:xfrm>
            <a:off x="304800" y="2133600"/>
            <a:ext cx="5689600" cy="3327400"/>
          </a:xfrm>
          <a:prstGeom prst="roundRect">
            <a:avLst/>
          </a:prstGeom>
          <a:solidFill>
            <a:srgbClr val="F4F6F8"/>
          </a:solidFill>
          <a:ln w="222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640C7B-1FB6-C80D-5CFD-D783EAE4505E}"/>
              </a:ext>
            </a:extLst>
          </p:cNvPr>
          <p:cNvSpPr txBox="1"/>
          <p:nvPr/>
        </p:nvSpPr>
        <p:spPr>
          <a:xfrm>
            <a:off x="431800" y="2197100"/>
            <a:ext cx="54356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1F4E79"/>
                </a:solidFill>
                <a:latin typeface="Segoe UI Semibold" panose="020B0702040204020203" pitchFamily="34" charset="0"/>
              </a:rPr>
              <a:t>Part A - Own hosted MCP</a:t>
            </a:r>
            <a:endParaRPr lang="en-IN" sz="1200" b="1">
              <a:solidFill>
                <a:srgbClr val="1F4E79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A6E052F-CAD4-EC28-1C96-42ECB148CF9E}"/>
              </a:ext>
            </a:extLst>
          </p:cNvPr>
          <p:cNvSpPr/>
          <p:nvPr/>
        </p:nvSpPr>
        <p:spPr>
          <a:xfrm>
            <a:off x="609600" y="2514600"/>
            <a:ext cx="5080000" cy="4826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fr-FR" sz="1100" b="1">
                <a:solidFill>
                  <a:srgbClr val="FFFFFF"/>
                </a:solidFill>
                <a:latin typeface="Segoe UI" panose="020B0502040204020203" pitchFamily="34" charset="0"/>
              </a:rPr>
              <a:t>FastMCP Client -&gt; HTTP
http://127.0.0.1:8090/mcp</a:t>
            </a:r>
            <a:endParaRPr lang="en-IN" sz="1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BB916E-54AD-3C5F-D307-C14FE22BAF35}"/>
              </a:ext>
            </a:extLst>
          </p:cNvPr>
          <p:cNvCxnSpPr/>
          <p:nvPr/>
        </p:nvCxnSpPr>
        <p:spPr>
          <a:xfrm>
            <a:off x="3149600" y="2997200"/>
            <a:ext cx="0" cy="101600"/>
          </a:xfrm>
          <a:prstGeom prst="line">
            <a:avLst/>
          </a:prstGeom>
          <a:ln w="2540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6DE17EB-C648-AC1B-E42F-961009BA73D9}"/>
              </a:ext>
            </a:extLst>
          </p:cNvPr>
          <p:cNvSpPr/>
          <p:nvPr/>
        </p:nvSpPr>
        <p:spPr>
          <a:xfrm>
            <a:off x="609600" y="3098800"/>
            <a:ext cx="5080000" cy="482600"/>
          </a:xfrm>
          <a:prstGeom prst="roundRect">
            <a:avLst/>
          </a:prstGeom>
          <a:solidFill>
            <a:srgbClr val="1F9D57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jira_server.py (our FastMCP server)</a:t>
            </a:r>
            <a:endParaRPr lang="en-IN" sz="1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6CA196-14E1-22F6-E6DD-13EEB6FC28C4}"/>
              </a:ext>
            </a:extLst>
          </p:cNvPr>
          <p:cNvCxnSpPr/>
          <p:nvPr/>
        </p:nvCxnSpPr>
        <p:spPr>
          <a:xfrm>
            <a:off x="3149600" y="3581400"/>
            <a:ext cx="0" cy="101600"/>
          </a:xfrm>
          <a:prstGeom prst="line">
            <a:avLst/>
          </a:prstGeom>
          <a:ln w="2540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C13DCE3-C7C9-EC4F-3B3B-1CE75B5F8E53}"/>
              </a:ext>
            </a:extLst>
          </p:cNvPr>
          <p:cNvSpPr/>
          <p:nvPr/>
        </p:nvSpPr>
        <p:spPr>
          <a:xfrm>
            <a:off x="609600" y="3683000"/>
            <a:ext cx="5080000" cy="482600"/>
          </a:xfrm>
          <a:prstGeom prst="roundRect">
            <a:avLst/>
          </a:prstGeom>
          <a:solidFill>
            <a:srgbClr val="1F9D57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pitchFamily="34" charset="0"/>
              </a:rPr>
              <a:t>tools: create_issue -&gt; transition_issue('Done')</a:t>
            </a:r>
            <a:endParaRPr lang="en-IN" sz="10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F664A66-0AEB-66BC-FF51-2B6A07395071}"/>
              </a:ext>
            </a:extLst>
          </p:cNvPr>
          <p:cNvCxnSpPr/>
          <p:nvPr/>
        </p:nvCxnSpPr>
        <p:spPr>
          <a:xfrm>
            <a:off x="3149600" y="4165600"/>
            <a:ext cx="0" cy="101600"/>
          </a:xfrm>
          <a:prstGeom prst="line">
            <a:avLst/>
          </a:prstGeom>
          <a:ln w="2540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EBD7CEA-5FDD-10CC-B458-1B9497369057}"/>
              </a:ext>
            </a:extLst>
          </p:cNvPr>
          <p:cNvSpPr/>
          <p:nvPr/>
        </p:nvSpPr>
        <p:spPr>
          <a:xfrm>
            <a:off x="609600" y="4267200"/>
            <a:ext cx="5080000" cy="482600"/>
          </a:xfrm>
          <a:prstGeom prst="roundRect">
            <a:avLst/>
          </a:prstGeom>
          <a:solidFill>
            <a:srgbClr val="1F9D57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pitchFamily="34" charset="0"/>
              </a:rPr>
              <a:t>Jira REST v2 - Basic auth (email + API token)</a:t>
            </a:r>
            <a:endParaRPr lang="en-IN" sz="10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03A79C5-E0F8-1F4C-D7C2-56345E891E50}"/>
              </a:ext>
            </a:extLst>
          </p:cNvPr>
          <p:cNvSpPr/>
          <p:nvPr/>
        </p:nvSpPr>
        <p:spPr>
          <a:xfrm>
            <a:off x="609600" y="4826000"/>
            <a:ext cx="5080000" cy="55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en-IN" sz="900">
                <a:solidFill>
                  <a:srgbClr val="212529"/>
                </a:solidFill>
                <a:latin typeface="Segoe UI" panose="020B0502040204020203" pitchFamily="34" charset="0"/>
              </a:rPr>
              <a:t>Auth: API token (.env / Key Vault)  |  Browser: never
Returns: result.data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800B7C4-3A98-4B96-0803-D204F47E3952}"/>
              </a:ext>
            </a:extLst>
          </p:cNvPr>
          <p:cNvSpPr/>
          <p:nvPr/>
        </p:nvSpPr>
        <p:spPr>
          <a:xfrm>
            <a:off x="6197600" y="2133600"/>
            <a:ext cx="5689600" cy="3327400"/>
          </a:xfrm>
          <a:prstGeom prst="roundRect">
            <a:avLst/>
          </a:prstGeom>
          <a:solidFill>
            <a:srgbClr val="F4F6F8"/>
          </a:solidFill>
          <a:ln w="222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8A2CB5-B53F-50E8-0083-762626088E75}"/>
              </a:ext>
            </a:extLst>
          </p:cNvPr>
          <p:cNvSpPr txBox="1"/>
          <p:nvPr/>
        </p:nvSpPr>
        <p:spPr>
          <a:xfrm>
            <a:off x="6324600" y="2197100"/>
            <a:ext cx="54356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1F4E79"/>
                </a:solidFill>
                <a:latin typeface="Segoe UI Semibold" panose="020B0702040204020203" pitchFamily="34" charset="0"/>
              </a:rPr>
              <a:t>Part B - Atlassian hosted MCP</a:t>
            </a:r>
            <a:endParaRPr lang="en-IN" sz="1200" b="1">
              <a:solidFill>
                <a:srgbClr val="1F4E79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73C05E6-2249-C80D-0BC5-CFC8165DADCD}"/>
              </a:ext>
            </a:extLst>
          </p:cNvPr>
          <p:cNvSpPr/>
          <p:nvPr/>
        </p:nvSpPr>
        <p:spPr>
          <a:xfrm>
            <a:off x="6502400" y="2514600"/>
            <a:ext cx="5080000" cy="4826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pitchFamily="34" charset="0"/>
              </a:rPr>
              <a:t>FastMCP Client -&gt; Streamable HTTP
https://mcp.atlassian.com/v1/mcp</a:t>
            </a:r>
            <a:endParaRPr lang="en-IN" sz="10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40F92E4-A893-FBD5-F414-C34AE3C7E3D1}"/>
              </a:ext>
            </a:extLst>
          </p:cNvPr>
          <p:cNvCxnSpPr/>
          <p:nvPr/>
        </p:nvCxnSpPr>
        <p:spPr>
          <a:xfrm>
            <a:off x="9042400" y="2997200"/>
            <a:ext cx="0" cy="101600"/>
          </a:xfrm>
          <a:prstGeom prst="line">
            <a:avLst/>
          </a:prstGeom>
          <a:ln w="2540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F5346AD-665A-44EB-5DBA-F31B66979A86}"/>
              </a:ext>
            </a:extLst>
          </p:cNvPr>
          <p:cNvSpPr/>
          <p:nvPr/>
        </p:nvSpPr>
        <p:spPr>
          <a:xfrm>
            <a:off x="6502400" y="3098800"/>
            <a:ext cx="5080000" cy="482600"/>
          </a:xfrm>
          <a:prstGeom prst="roundRect">
            <a:avLst/>
          </a:prstGeom>
          <a:solidFill>
            <a:srgbClr val="1F9D57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Atlassian Remote MCP (31 tools)</a:t>
            </a:r>
            <a:endParaRPr lang="en-IN" sz="1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2185AEC-5E7F-808D-3496-DA6A93129FAD}"/>
              </a:ext>
            </a:extLst>
          </p:cNvPr>
          <p:cNvCxnSpPr/>
          <p:nvPr/>
        </p:nvCxnSpPr>
        <p:spPr>
          <a:xfrm>
            <a:off x="9042400" y="3581400"/>
            <a:ext cx="0" cy="101600"/>
          </a:xfrm>
          <a:prstGeom prst="line">
            <a:avLst/>
          </a:prstGeom>
          <a:ln w="2540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EFF2C63-F4E2-32F1-6F9B-7A5B8443B90E}"/>
              </a:ext>
            </a:extLst>
          </p:cNvPr>
          <p:cNvSpPr/>
          <p:nvPr/>
        </p:nvSpPr>
        <p:spPr>
          <a:xfrm>
            <a:off x="6502400" y="3683000"/>
            <a:ext cx="5080000" cy="482600"/>
          </a:xfrm>
          <a:prstGeom prst="roundRect">
            <a:avLst/>
          </a:prstGeom>
          <a:solidFill>
            <a:srgbClr val="1F9D57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createJiraIssue -&gt; getTransitions -&gt; transition {id:31}=Done</a:t>
            </a:r>
            <a:endParaRPr lang="en-IN" sz="9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6950470-E07A-8283-B714-2E5BA4E9A221}"/>
              </a:ext>
            </a:extLst>
          </p:cNvPr>
          <p:cNvCxnSpPr/>
          <p:nvPr/>
        </p:nvCxnSpPr>
        <p:spPr>
          <a:xfrm>
            <a:off x="9042400" y="4165600"/>
            <a:ext cx="0" cy="101600"/>
          </a:xfrm>
          <a:prstGeom prst="line">
            <a:avLst/>
          </a:prstGeom>
          <a:ln w="2540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A39B430-5F8D-3BBA-AEF6-9FC23AEB76D7}"/>
              </a:ext>
            </a:extLst>
          </p:cNvPr>
          <p:cNvSpPr/>
          <p:nvPr/>
        </p:nvSpPr>
        <p:spPr>
          <a:xfrm>
            <a:off x="6502400" y="4267200"/>
            <a:ext cx="5080000" cy="482600"/>
          </a:xfrm>
          <a:prstGeom prst="roundRect">
            <a:avLst/>
          </a:prstGeom>
          <a:solidFill>
            <a:srgbClr val="1F9D57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Jira Cloud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F35F7C2-D4C6-D741-0015-01FD82153CB6}"/>
              </a:ext>
            </a:extLst>
          </p:cNvPr>
          <p:cNvSpPr/>
          <p:nvPr/>
        </p:nvSpPr>
        <p:spPr>
          <a:xfrm>
            <a:off x="6502400" y="4826000"/>
            <a:ext cx="5080000" cy="55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9D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en-US" sz="900">
                <a:solidFill>
                  <a:srgbClr val="212529"/>
                </a:solidFill>
                <a:latin typeface="Segoe UI" panose="020B0502040204020203" pitchFamily="34" charset="0"/>
              </a:rPr>
              <a:t>Auth: OAuth (dynamic reg), token in OS keyring, auto-refresh
Browser: once (authorize)  |  Returns: content[].text JSON</a:t>
            </a:r>
            <a:endParaRPr lang="en-IN" sz="900">
              <a:solidFill>
                <a:srgbClr val="212529"/>
              </a:solidFill>
              <a:latin typeface="Segoe UI" panose="020B0502040204020203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BD20EC-8604-4F8D-7835-D328B9A37B3F}"/>
              </a:ext>
            </a:extLst>
          </p:cNvPr>
          <p:cNvSpPr txBox="1"/>
          <p:nvPr/>
        </p:nvSpPr>
        <p:spPr>
          <a:xfrm>
            <a:off x="279400" y="5500228"/>
            <a:ext cx="254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 b="1" dirty="0" err="1">
                <a:solidFill>
                  <a:srgbClr val="212529"/>
                </a:solidFill>
                <a:latin typeface="Segoe UI Semibold" panose="020B0702040204020203" pitchFamily="34" charset="0"/>
              </a:rPr>
              <a:t>Color</a:t>
            </a:r>
            <a:r>
              <a:rPr lang="en-IN" sz="900" b="1" dirty="0">
                <a:solidFill>
                  <a:srgbClr val="212529"/>
                </a:solidFill>
                <a:latin typeface="Segoe UI Semibold" panose="020B0702040204020203" pitchFamily="34" charset="0"/>
              </a:rPr>
              <a:t> legend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304DB1F-266C-1AA4-81C9-10AE31808C96}"/>
              </a:ext>
            </a:extLst>
          </p:cNvPr>
          <p:cNvSpPr/>
          <p:nvPr/>
        </p:nvSpPr>
        <p:spPr>
          <a:xfrm>
            <a:off x="342900" y="5752428"/>
            <a:ext cx="165100" cy="1651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FDB82E-B3C5-D922-D00C-231E7B1FD117}"/>
              </a:ext>
            </a:extLst>
          </p:cNvPr>
          <p:cNvSpPr txBox="1"/>
          <p:nvPr/>
        </p:nvSpPr>
        <p:spPr>
          <a:xfrm>
            <a:off x="558800" y="5714328"/>
            <a:ext cx="26416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800" dirty="0">
                <a:solidFill>
                  <a:srgbClr val="212529"/>
                </a:solidFill>
                <a:latin typeface="Segoe UI" panose="020B0502040204020203" pitchFamily="34" charset="0"/>
              </a:rPr>
              <a:t>Remediation (</a:t>
            </a:r>
            <a:r>
              <a:rPr lang="en-IN" sz="800" dirty="0" err="1">
                <a:solidFill>
                  <a:srgbClr val="212529"/>
                </a:solidFill>
                <a:latin typeface="Segoe UI" panose="020B0502040204020203" pitchFamily="34" charset="0"/>
              </a:rPr>
              <a:t>LangGraph</a:t>
            </a:r>
            <a:r>
              <a:rPr lang="en-IN" sz="800" dirty="0">
                <a:solidFill>
                  <a:srgbClr val="212529"/>
                </a:solidFill>
                <a:latin typeface="Segoe UI" panose="020B0502040204020203" pitchFamily="34" charset="0"/>
              </a:rPr>
              <a:t>)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794FC02-1E51-F2FA-C4E9-1BF298AAFE27}"/>
              </a:ext>
            </a:extLst>
          </p:cNvPr>
          <p:cNvSpPr/>
          <p:nvPr/>
        </p:nvSpPr>
        <p:spPr>
          <a:xfrm>
            <a:off x="3263900" y="5752428"/>
            <a:ext cx="165100" cy="165100"/>
          </a:xfrm>
          <a:prstGeom prst="roundRect">
            <a:avLst/>
          </a:prstGeom>
          <a:solidFill>
            <a:srgbClr val="1F9D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41260B-D6C9-A824-FD73-B4031AFF28E2}"/>
              </a:ext>
            </a:extLst>
          </p:cNvPr>
          <p:cNvSpPr txBox="1"/>
          <p:nvPr/>
        </p:nvSpPr>
        <p:spPr>
          <a:xfrm>
            <a:off x="3479800" y="5714328"/>
            <a:ext cx="26416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800">
                <a:solidFill>
                  <a:srgbClr val="212529"/>
                </a:solidFill>
                <a:latin typeface="Segoe UI" panose="020B0502040204020203" pitchFamily="34" charset="0"/>
              </a:rPr>
              <a:t>Jira audit via MCP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2141A1B-2F2F-6F28-8C1E-86E7AFDD84E2}"/>
              </a:ext>
            </a:extLst>
          </p:cNvPr>
          <p:cNvSpPr/>
          <p:nvPr/>
        </p:nvSpPr>
        <p:spPr>
          <a:xfrm>
            <a:off x="6184900" y="5752428"/>
            <a:ext cx="165100" cy="1651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9991F7-DCDE-73E8-AB16-46D929AB525E}"/>
              </a:ext>
            </a:extLst>
          </p:cNvPr>
          <p:cNvSpPr txBox="1"/>
          <p:nvPr/>
        </p:nvSpPr>
        <p:spPr>
          <a:xfrm>
            <a:off x="6400800" y="5714328"/>
            <a:ext cx="26416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800">
                <a:solidFill>
                  <a:srgbClr val="212529"/>
                </a:solidFill>
                <a:latin typeface="Segoe UI" panose="020B0502040204020203" pitchFamily="34" charset="0"/>
              </a:rPr>
              <a:t>Orchestration / transport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2431A9F-3457-D863-50F2-682C774D4C3D}"/>
              </a:ext>
            </a:extLst>
          </p:cNvPr>
          <p:cNvSpPr/>
          <p:nvPr/>
        </p:nvSpPr>
        <p:spPr>
          <a:xfrm>
            <a:off x="292100" y="6045200"/>
            <a:ext cx="11582400" cy="7620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Both -&gt; project KAN   |   verified =&gt; Jira Done + ServiceNow Resolved (close-notes cite Jira key)   |   failed/unverified =&gt; Jira stays Open
Automation: Part B needs a one-time browser OAuth (then silent refresh) -&gt; NOT truly zero-touch.  Part A (API token in Key Vault) is the fully unattended path.</a:t>
            </a:r>
          </a:p>
        </p:txBody>
      </p:sp>
    </p:spTree>
    <p:extLst>
      <p:ext uri="{BB962C8B-B14F-4D97-AF65-F5344CB8AC3E}">
        <p14:creationId xmlns:p14="http://schemas.microsoft.com/office/powerpoint/2010/main" val="2814828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58E9A1-3A51-36EE-768E-047CF6CC8D56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2F9E46-58B5-728F-8010-C3F527C0AE56}"/>
              </a:ext>
            </a:extLst>
          </p:cNvPr>
          <p:cNvSpPr txBox="1"/>
          <p:nvPr/>
        </p:nvSpPr>
        <p:spPr>
          <a:xfrm>
            <a:off x="304800" y="101600"/>
            <a:ext cx="115824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Segoe UI Semibold" panose="020B0702040204020203" pitchFamily="34" charset="0"/>
              </a:rPr>
              <a:t>Observability LLD - Live Activity timeline + OpenTelemetry / Langfuse</a:t>
            </a:r>
            <a:endParaRPr lang="en-IN" sz="19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0366B4-36FA-1495-D010-16CFA8F167D3}"/>
              </a:ext>
            </a:extLst>
          </p:cNvPr>
          <p:cNvSpPr txBox="1"/>
          <p:nvPr/>
        </p:nvSpPr>
        <p:spPr>
          <a:xfrm>
            <a:off x="304800" y="685800"/>
            <a:ext cx="1158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 i="1" dirty="0">
                <a:solidFill>
                  <a:srgbClr val="7F8C8D"/>
                </a:solidFill>
                <a:latin typeface="Segoe UI" panose="020B0502040204020203" pitchFamily="34" charset="0"/>
              </a:rPr>
              <a:t>Task #21: instrument ONCE at each stage -&gt; fan out to three audiences (fail-safe, flag-gated)</a:t>
            </a:r>
            <a:endParaRPr lang="en-IN" sz="1100" b="1" i="1" dirty="0">
              <a:solidFill>
                <a:srgbClr val="7F8C8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131F2D-E13A-59DF-8619-7DDB873655D4}"/>
              </a:ext>
            </a:extLst>
          </p:cNvPr>
          <p:cNvSpPr/>
          <p:nvPr/>
        </p:nvSpPr>
        <p:spPr>
          <a:xfrm>
            <a:off x="304800" y="1168400"/>
            <a:ext cx="2997200" cy="4013200"/>
          </a:xfrm>
          <a:prstGeom prst="roundRect">
            <a:avLst/>
          </a:prstGeom>
          <a:solidFill>
            <a:srgbClr val="F4F6F8"/>
          </a:solidFill>
          <a:ln w="222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9B685-D530-BB26-96EC-39248D31C102}"/>
              </a:ext>
            </a:extLst>
          </p:cNvPr>
          <p:cNvSpPr txBox="1"/>
          <p:nvPr/>
        </p:nvSpPr>
        <p:spPr>
          <a:xfrm>
            <a:off x="431800" y="1231900"/>
            <a:ext cx="27432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1F4E79"/>
                </a:solidFill>
                <a:latin typeface="Segoe UI Semibold" panose="020B0702040204020203" pitchFamily="34" charset="0"/>
              </a:rPr>
              <a:t>Pipeline stages (each emits)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E9A652-7986-23CD-F013-01E7B14D4D33}"/>
              </a:ext>
            </a:extLst>
          </p:cNvPr>
          <p:cNvSpPr/>
          <p:nvPr/>
        </p:nvSpPr>
        <p:spPr>
          <a:xfrm>
            <a:off x="508000" y="1574800"/>
            <a:ext cx="2590800" cy="340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lang="en-US" sz="1100" b="1" dirty="0">
                <a:solidFill>
                  <a:srgbClr val="212529"/>
                </a:solidFill>
                <a:latin typeface="Segoe UI" panose="020B0502040204020203" pitchFamily="34" charset="0"/>
              </a:rPr>
              <a:t>INGEST
DETECT
CORRELATE
DIAGNOSE  (+ AI reasoning)
SNOW_CREATE
APPROVAL
VALIDATE
EXECUTE
VERIFY
JIRA_CREATE
SNOW_RESOLVE
LEARN</a:t>
            </a:r>
            <a:endParaRPr lang="en-IN" sz="1100" b="1" dirty="0">
              <a:solidFill>
                <a:srgbClr val="212529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DAC58B-A729-A2D2-3BA3-3FFF0E0490D3}"/>
              </a:ext>
            </a:extLst>
          </p:cNvPr>
          <p:cNvSpPr/>
          <p:nvPr/>
        </p:nvSpPr>
        <p:spPr>
          <a:xfrm>
            <a:off x="3759200" y="2641600"/>
            <a:ext cx="2717800" cy="1219200"/>
          </a:xfrm>
          <a:prstGeom prst="roundRect">
            <a:avLst/>
          </a:prstGeom>
          <a:solidFill>
            <a:srgbClr val="5B4E9C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ProgressEmitter
(instrument once)
progress.stage() / generation()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D56362-AC01-62AA-1538-44D7F579A55C}"/>
              </a:ext>
            </a:extLst>
          </p:cNvPr>
          <p:cNvCxnSpPr/>
          <p:nvPr/>
        </p:nvCxnSpPr>
        <p:spPr>
          <a:xfrm>
            <a:off x="3302000" y="3175000"/>
            <a:ext cx="457200" cy="0"/>
          </a:xfrm>
          <a:prstGeom prst="line">
            <a:avLst/>
          </a:prstGeom>
          <a:ln w="2540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63C394-42A1-16E4-88CE-087B14FDD2E0}"/>
              </a:ext>
            </a:extLst>
          </p:cNvPr>
          <p:cNvSpPr/>
          <p:nvPr/>
        </p:nvSpPr>
        <p:spPr>
          <a:xfrm>
            <a:off x="7061200" y="1244600"/>
            <a:ext cx="4826000" cy="1168400"/>
          </a:xfrm>
          <a:prstGeom prst="roundRect">
            <a:avLst/>
          </a:prstGeom>
          <a:solidFill>
            <a:srgbClr val="1F9D57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pipeline_event (Postgres)  -&gt;  Streamlit 'Live Activity'
live timeline - colored status - working banner
[ OPERATORS ]</a:t>
            </a:r>
            <a:endParaRPr lang="en-IN" sz="1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0780C88-7B0B-5F5D-45E2-CFBB3CE1ED8B}"/>
              </a:ext>
            </a:extLst>
          </p:cNvPr>
          <p:cNvSpPr/>
          <p:nvPr/>
        </p:nvSpPr>
        <p:spPr>
          <a:xfrm>
            <a:off x="7061200" y="2641600"/>
            <a:ext cx="4826000" cy="11684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OpenTelemetry spans  -&gt;  APM
Azure Monitor / Grafana Tempo / Jaeger
[ SRE / OPS 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300D24-61FD-E85D-C9A2-2E0E5ABD4062}"/>
              </a:ext>
            </a:extLst>
          </p:cNvPr>
          <p:cNvSpPr/>
          <p:nvPr/>
        </p:nvSpPr>
        <p:spPr>
          <a:xfrm>
            <a:off x="7061200" y="4038600"/>
            <a:ext cx="4826000" cy="11684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Langfuse  (via OTLP - no SDK)
LLM prompt - tokens - cost - quality / evals
[ AI ENGINEERS ]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5C59ED-7B83-5C60-3472-63E1D9E889B7}"/>
              </a:ext>
            </a:extLst>
          </p:cNvPr>
          <p:cNvCxnSpPr/>
          <p:nvPr/>
        </p:nvCxnSpPr>
        <p:spPr>
          <a:xfrm flipV="1">
            <a:off x="6477000" y="1828800"/>
            <a:ext cx="584200" cy="1346200"/>
          </a:xfrm>
          <a:prstGeom prst="line">
            <a:avLst/>
          </a:prstGeom>
          <a:ln w="25400">
            <a:solidFill>
              <a:srgbClr val="1F9D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AD769D-D76C-65EF-FEEA-C3FB6E882C04}"/>
              </a:ext>
            </a:extLst>
          </p:cNvPr>
          <p:cNvCxnSpPr/>
          <p:nvPr/>
        </p:nvCxnSpPr>
        <p:spPr>
          <a:xfrm>
            <a:off x="6477000" y="3200400"/>
            <a:ext cx="584200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92AE477-6C9C-9E14-53E6-617B7A7E86BB}"/>
              </a:ext>
            </a:extLst>
          </p:cNvPr>
          <p:cNvCxnSpPr/>
          <p:nvPr/>
        </p:nvCxnSpPr>
        <p:spPr>
          <a:xfrm>
            <a:off x="6477000" y="3225800"/>
            <a:ext cx="584200" cy="1346200"/>
          </a:xfrm>
          <a:prstGeom prst="line">
            <a:avLst/>
          </a:prstGeom>
          <a:ln w="25400">
            <a:solidFill>
              <a:srgbClr val="16A0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789673E-5E8C-4B3E-EC83-445331E0EF2B}"/>
              </a:ext>
            </a:extLst>
          </p:cNvPr>
          <p:cNvSpPr txBox="1"/>
          <p:nvPr/>
        </p:nvSpPr>
        <p:spPr>
          <a:xfrm>
            <a:off x="6502400" y="1905000"/>
            <a:ext cx="152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800" i="1">
                <a:solidFill>
                  <a:srgbClr val="1F9D57"/>
                </a:solidFill>
                <a:latin typeface="Segoe UI" panose="020B0502040204020203" pitchFamily="34" charset="0"/>
              </a:rPr>
              <a:t>always 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561BFF-A2CA-F47A-9E32-CECE1E762202}"/>
              </a:ext>
            </a:extLst>
          </p:cNvPr>
          <p:cNvSpPr txBox="1"/>
          <p:nvPr/>
        </p:nvSpPr>
        <p:spPr>
          <a:xfrm>
            <a:off x="6502400" y="3810000"/>
            <a:ext cx="152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800" i="1">
                <a:solidFill>
                  <a:srgbClr val="16A085"/>
                </a:solidFill>
                <a:latin typeface="Segoe UI" panose="020B0502040204020203" pitchFamily="34" charset="0"/>
              </a:rPr>
              <a:t>gen_ai.* / OTLP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D886054-A0B3-9029-BAEB-7552D86A97AC}"/>
              </a:ext>
            </a:extLst>
          </p:cNvPr>
          <p:cNvSpPr/>
          <p:nvPr/>
        </p:nvSpPr>
        <p:spPr>
          <a:xfrm>
            <a:off x="304800" y="5486400"/>
            <a:ext cx="11582400" cy="6858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pitchFamily="34" charset="0"/>
              </a:rPr>
              <a:t>One instrumentation -&gt; three audiences.  Fail-safe (a telemetry error NEVER blocks the pipeline) - flag-gated - OTLP standard (no vendor lock-in).
The live timeline needs NO extra dependencies; OpenTelemetry + Langfuse are optional add-ons.</a:t>
            </a:r>
            <a:endParaRPr lang="en-IN" sz="10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861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746</Words>
  <Application>Microsoft Office PowerPoint</Application>
  <PresentationFormat>Widescreen</PresentationFormat>
  <Paragraphs>80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Rana, Dewasheesh (Cognizant)</dc:creator>
  <cp:lastModifiedBy>Rana, Dewasheesh (Cognizant)</cp:lastModifiedBy>
  <cp:revision>3</cp:revision>
  <dcterms:created xsi:type="dcterms:W3CDTF">2026-07-01T09:19:55Z</dcterms:created>
  <dcterms:modified xsi:type="dcterms:W3CDTF">2026-07-01T09:42:54Z</dcterms:modified>
</cp:coreProperties>
</file>