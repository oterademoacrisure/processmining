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732000" cy="1168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79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88E8-1C2D-FE38-AFCB-E35F7350D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1500" y="1912174"/>
            <a:ext cx="11049000" cy="4067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9A3CA-2022-A621-A72B-A73456F2A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41500" y="6136805"/>
            <a:ext cx="11049000" cy="282092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4E802-5A2F-66CC-66B8-AEB6AC8B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09F35-9423-4C4F-90D0-10291C7F66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FB362-6C3E-CF0A-E81E-F17DA2FA3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03B7C-1B61-E1B2-15EC-9358CFAC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EAB2-CBAD-474A-B34A-1E094EC18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52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6E4F-D736-03D8-9D8C-017ECB92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8D16C-8DB8-B37D-ED05-78AD3026E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8E35A-0E27-D479-99F2-C8423FA71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09F35-9423-4C4F-90D0-10291C7F66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A1BFC-31D6-D96C-019A-50023A600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0A55A-F01A-C549-C68E-0602FB836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EAB2-CBAD-474A-B34A-1E094EC18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88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A7FED-FF12-BFEA-6929-B6D39D888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152" y="2912889"/>
            <a:ext cx="12706350" cy="486021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CFDCC-F409-5B79-65CD-3E27294ED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152" y="7819088"/>
            <a:ext cx="12706350" cy="25558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6C756-A99C-3A43-ED5A-77BB2BCC7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09F35-9423-4C4F-90D0-10291C7F66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D571D-0204-6FB4-A635-D385ABA5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6DA83-2265-A735-8330-7A771FA2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EAB2-CBAD-474A-B34A-1E094EC18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971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64F32-82A0-6837-8B4D-FEE80C118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4F443-DE39-1A50-7419-FD77E7D8A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2825" y="3110324"/>
            <a:ext cx="6261100" cy="74133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ED846-C1E5-EADD-8E90-E0401177E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8075" y="3110324"/>
            <a:ext cx="6261100" cy="74133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033A4-98C3-3FE3-3D4D-AD575E729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09F35-9423-4C4F-90D0-10291C7F66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AC83C-D493-6B3E-4589-E98201062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70A11-AEB6-CCF2-F961-D986F928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EAB2-CBAD-474A-B34A-1E094EC18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452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F8B5-3F28-26A6-1C33-02C0D723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744" y="622067"/>
            <a:ext cx="12706350" cy="22583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ED69D-B375-1039-5EBD-7902000DB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44" y="2864204"/>
            <a:ext cx="6232326" cy="14037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29BD7-0427-E402-224E-A6F47A502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4744" y="4267906"/>
            <a:ext cx="6232326" cy="6277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27AF17-358E-DB28-A5BC-8EC8AEAEB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58076" y="2864204"/>
            <a:ext cx="6263019" cy="14037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C3D6E5-DEB3-66F8-0100-AFF5E840E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58076" y="4267906"/>
            <a:ext cx="6263019" cy="6277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940D02-04CE-9CEA-5407-C215D319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09F35-9423-4C4F-90D0-10291C7F66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A601D7-1C8C-5EB1-F838-A97904F0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205CB-9932-9604-719D-E0E26BB5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EAB2-CBAD-474A-B34A-1E094EC18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80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F584-DFEE-B109-C4CB-3C004363B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917672-C7CC-729C-94DF-F6FA6560A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09F35-9423-4C4F-90D0-10291C7F66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79B52-1F4E-2A1E-F116-981E6890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E7956-3215-CB4B-28CF-3A58DF43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EAB2-CBAD-474A-B34A-1E094EC18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9EEF6F-8C2B-61B8-CCB1-FEFA1AA6C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09F35-9423-4C4F-90D0-10291C7F66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2BEA-E796-F979-54E2-C2E33A39B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6FB8B-BF67-1FEE-02F4-DFC9DA98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EAB2-CBAD-474A-B34A-1E094EC18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599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E4065-52E2-E631-7FE3-792C52AE2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745" y="778933"/>
            <a:ext cx="4751453" cy="27262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211C1-FC9F-82C0-BDBD-0C2E2A618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3020" y="1682282"/>
            <a:ext cx="7458075" cy="83032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61866-D53B-3B7F-812F-58BC1C2EF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4745" y="3505200"/>
            <a:ext cx="4751453" cy="64938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9C32B-5D31-21F0-6633-28D7AF85D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09F35-9423-4C4F-90D0-10291C7F66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41170-73A2-A332-3731-78A381461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921CF-0907-7FFB-56AD-DE9F9217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EAB2-CBAD-474A-B34A-1E094EC18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315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76AF0-7607-9F02-D201-DCFD5577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745" y="778933"/>
            <a:ext cx="4751453" cy="27262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63223A-DEC3-BAE7-3B6D-B6D59F13EC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63020" y="1682282"/>
            <a:ext cx="7458075" cy="83032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0402C-DEF6-4C8E-C64B-A44226C09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4745" y="3505200"/>
            <a:ext cx="4751453" cy="64938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26C37-D61A-C55E-FF5F-04613EFA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09F35-9423-4C4F-90D0-10291C7F66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3CC49-913E-95C4-A941-655A30AC7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F8191-40AE-EC15-C01D-8C7EA4A12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EAB2-CBAD-474A-B34A-1E094EC18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54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D5062-37E3-6AED-006B-9A7ED28A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02A8C-2A8A-1881-38F6-BA5F76C0A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1161D-8D5F-1EA4-949F-7F642614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09F35-9423-4C4F-90D0-10291C7F66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AADE9-E44F-024D-0BF0-E5D0663CE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1A369-21B2-E195-E89C-F6BEA46F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EAB2-CBAD-474A-B34A-1E094EC18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897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79D50-AC3D-3273-A063-6C2812A8B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542587" y="622065"/>
            <a:ext cx="3176588" cy="99016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9F32E-DEA0-7FCF-742D-4873C510E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12826" y="622065"/>
            <a:ext cx="9345613" cy="9901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60A38-A4D6-C51E-E812-FBC8A59FF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09F35-9423-4C4F-90D0-10291C7F66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C7960-A20E-5C09-87FA-D4C2B1CD8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DACA-ED99-771E-D2E1-610AC1FE9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EAB2-CBAD-474A-B34A-1E094EC18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09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00C525-8B86-4038-542D-F860EB62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622067"/>
            <a:ext cx="12706350" cy="2258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E2AEA-6D1F-2114-05FA-C2C177397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2825" y="3110324"/>
            <a:ext cx="12706350" cy="7413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87DBA-F0B6-59AC-2E48-8BF5D89B6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2825" y="10829340"/>
            <a:ext cx="3314700" cy="6220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09F35-9423-4C4F-90D0-10291C7F66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80C03-51D6-7A2B-EE6C-12161EF1F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79975" y="10829340"/>
            <a:ext cx="4972050" cy="6220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D0D7A-6DC2-020B-4C35-D40D0D2BA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04475" y="10829340"/>
            <a:ext cx="3314700" cy="6220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3EAB2-CBAD-474A-B34A-1E094EC182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952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C6C99C-6D5D-FA40-4AD4-37592B27C216}"/>
              </a:ext>
            </a:extLst>
          </p:cNvPr>
          <p:cNvSpPr txBox="1"/>
          <p:nvPr/>
        </p:nvSpPr>
        <p:spPr>
          <a:xfrm>
            <a:off x="558800" y="228600"/>
            <a:ext cx="1346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000" b="1" dirty="0">
                <a:solidFill>
                  <a:srgbClr val="0F172A"/>
                </a:solidFill>
                <a:latin typeface="Segoe UI Semibold" panose="020B0702040204020203" pitchFamily="34" charset="0"/>
              </a:rPr>
              <a:t>Precedent RCA Demo: Closed-Loop Flow</a:t>
            </a:r>
            <a:endParaRPr lang="en-IN" sz="3000" b="1" dirty="0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E33902-E838-A008-D70D-F9A688CF8026}"/>
              </a:ext>
            </a:extLst>
          </p:cNvPr>
          <p:cNvSpPr/>
          <p:nvPr/>
        </p:nvSpPr>
        <p:spPr>
          <a:xfrm>
            <a:off x="4191000" y="1041400"/>
            <a:ext cx="6350000" cy="762000"/>
          </a:xfrm>
          <a:prstGeom prst="roundRect">
            <a:avLst>
              <a:gd name="adj" fmla="val 18000"/>
            </a:avLst>
          </a:prstGeom>
          <a:solidFill>
            <a:srgbClr val="1E406E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 Semibold" panose="020B0702040204020203" pitchFamily="34" charset="0"/>
              </a:rPr>
              <a:t>Telemetry Sources: Appian, Mule, Prometheus, Fluentd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86181A-C8C4-B12F-BD0D-D5921C1A1128}"/>
              </a:ext>
            </a:extLst>
          </p:cNvPr>
          <p:cNvSpPr txBox="1"/>
          <p:nvPr/>
        </p:nvSpPr>
        <p:spPr>
          <a:xfrm>
            <a:off x="10845800" y="1191111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 dirty="0">
                <a:solidFill>
                  <a:srgbClr val="475569"/>
                </a:solidFill>
                <a:latin typeface="Segoe UI" panose="020B0502040204020203" pitchFamily="34" charset="0"/>
              </a:rPr>
              <a:t>Log files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707B630-FE21-9E8B-C212-A1394CF690D4}"/>
              </a:ext>
            </a:extLst>
          </p:cNvPr>
          <p:cNvSpPr/>
          <p:nvPr/>
        </p:nvSpPr>
        <p:spPr>
          <a:xfrm>
            <a:off x="4191000" y="2184400"/>
            <a:ext cx="6350000" cy="762000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 Semibold" panose="020B0702040204020203" pitchFamily="34" charset="0"/>
              </a:rPr>
              <a:t>Ingest Logs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316A67-D10B-9DC7-4DE8-D929E5704CA6}"/>
              </a:ext>
            </a:extLst>
          </p:cNvPr>
          <p:cNvSpPr txBox="1"/>
          <p:nvPr/>
        </p:nvSpPr>
        <p:spPr>
          <a:xfrm>
            <a:off x="10845800" y="22987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 dirty="0">
                <a:solidFill>
                  <a:srgbClr val="475569"/>
                </a:solidFill>
                <a:latin typeface="Segoe UI" panose="020B0502040204020203" pitchFamily="34" charset="0"/>
              </a:rPr>
              <a:t>Stored in PostgreSQL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966936-CEDB-0A8E-B426-6201B3D7989F}"/>
              </a:ext>
            </a:extLst>
          </p:cNvPr>
          <p:cNvCxnSpPr/>
          <p:nvPr/>
        </p:nvCxnSpPr>
        <p:spPr>
          <a:xfrm>
            <a:off x="7366000" y="1803400"/>
            <a:ext cx="0" cy="381000"/>
          </a:xfrm>
          <a:prstGeom prst="line">
            <a:avLst/>
          </a:prstGeom>
          <a:ln w="28575">
            <a:solidFill>
              <a:srgbClr val="1E4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F8338A-1DD1-A9D1-4E75-69B7D12CD66A}"/>
              </a:ext>
            </a:extLst>
          </p:cNvPr>
          <p:cNvSpPr/>
          <p:nvPr/>
        </p:nvSpPr>
        <p:spPr>
          <a:xfrm>
            <a:off x="4191000" y="3327400"/>
            <a:ext cx="6350000" cy="762000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 Semibold" panose="020B0702040204020203" pitchFamily="34" charset="0"/>
              </a:rPr>
              <a:t>Detect 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2547B6-E165-5A7F-7773-5209E76D5F35}"/>
              </a:ext>
            </a:extLst>
          </p:cNvPr>
          <p:cNvSpPr txBox="1"/>
          <p:nvPr/>
        </p:nvSpPr>
        <p:spPr>
          <a:xfrm>
            <a:off x="10845800" y="34417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 dirty="0">
                <a:solidFill>
                  <a:srgbClr val="475569"/>
                </a:solidFill>
                <a:latin typeface="Segoe UI" panose="020B0502040204020203" pitchFamily="34" charset="0"/>
              </a:rPr>
              <a:t>Stored in PostgreSQL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9F5757-1B41-1868-E2C3-08DEB55E21F8}"/>
              </a:ext>
            </a:extLst>
          </p:cNvPr>
          <p:cNvCxnSpPr/>
          <p:nvPr/>
        </p:nvCxnSpPr>
        <p:spPr>
          <a:xfrm>
            <a:off x="7366000" y="2946400"/>
            <a:ext cx="0" cy="381000"/>
          </a:xfrm>
          <a:prstGeom prst="line">
            <a:avLst/>
          </a:prstGeom>
          <a:ln w="28575">
            <a:solidFill>
              <a:srgbClr val="1E4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A77562D-39EC-3934-F7B9-B7446B86C46D}"/>
              </a:ext>
            </a:extLst>
          </p:cNvPr>
          <p:cNvSpPr/>
          <p:nvPr/>
        </p:nvSpPr>
        <p:spPr>
          <a:xfrm>
            <a:off x="4191000" y="4470400"/>
            <a:ext cx="6350000" cy="762000"/>
          </a:xfrm>
          <a:prstGeom prst="roundRect">
            <a:avLst>
              <a:gd name="adj" fmla="val 18000"/>
            </a:avLst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 Semibold" panose="020B0702040204020203" pitchFamily="34" charset="0"/>
              </a:rPr>
              <a:t>Diagnose: AI + Precedent Search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CAE0F9-8CD2-1330-369D-F4E2E7A32663}"/>
              </a:ext>
            </a:extLst>
          </p:cNvPr>
          <p:cNvSpPr txBox="1"/>
          <p:nvPr/>
        </p:nvSpPr>
        <p:spPr>
          <a:xfrm>
            <a:off x="10845800" y="4584700"/>
            <a:ext cx="381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 dirty="0">
                <a:solidFill>
                  <a:srgbClr val="475569"/>
                </a:solidFill>
                <a:latin typeface="Segoe UI" panose="020B0502040204020203" pitchFamily="34" charset="0"/>
              </a:rPr>
              <a:t>FAISS + PostgreSQL hybrid search (min 0.60); Azure OpenAI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077531-6792-A7AD-8BB9-B357B2497A93}"/>
              </a:ext>
            </a:extLst>
          </p:cNvPr>
          <p:cNvCxnSpPr/>
          <p:nvPr/>
        </p:nvCxnSpPr>
        <p:spPr>
          <a:xfrm>
            <a:off x="7366000" y="4089400"/>
            <a:ext cx="0" cy="381000"/>
          </a:xfrm>
          <a:prstGeom prst="line">
            <a:avLst/>
          </a:prstGeom>
          <a:ln w="28575">
            <a:solidFill>
              <a:srgbClr val="1E4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3541D2-16DF-6A55-C693-17EA0FA051CC}"/>
              </a:ext>
            </a:extLst>
          </p:cNvPr>
          <p:cNvSpPr/>
          <p:nvPr/>
        </p:nvSpPr>
        <p:spPr>
          <a:xfrm>
            <a:off x="4191000" y="5613400"/>
            <a:ext cx="6350000" cy="76200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 Semibold" panose="020B0702040204020203" pitchFamily="34" charset="0"/>
              </a:rPr>
              <a:t>Create ServiceNow Ticket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7DE3D1-1A39-71E0-8433-F6224127BDD6}"/>
              </a:ext>
            </a:extLst>
          </p:cNvPr>
          <p:cNvSpPr txBox="1"/>
          <p:nvPr/>
        </p:nvSpPr>
        <p:spPr>
          <a:xfrm>
            <a:off x="10845800" y="57277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475569"/>
                </a:solidFill>
                <a:latin typeface="Segoe UI" panose="020B0502040204020203" pitchFamily="34" charset="0"/>
              </a:rPr>
              <a:t>ServiceNow REST API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E5D5E-E750-5FC7-90DD-FA35479D30FD}"/>
              </a:ext>
            </a:extLst>
          </p:cNvPr>
          <p:cNvCxnSpPr/>
          <p:nvPr/>
        </p:nvCxnSpPr>
        <p:spPr>
          <a:xfrm>
            <a:off x="7366000" y="5232400"/>
            <a:ext cx="0" cy="381000"/>
          </a:xfrm>
          <a:prstGeom prst="line">
            <a:avLst/>
          </a:prstGeom>
          <a:ln w="28575">
            <a:solidFill>
              <a:srgbClr val="1E4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FD5D7DC-B57B-B474-AA02-4428B4F94CEF}"/>
              </a:ext>
            </a:extLst>
          </p:cNvPr>
          <p:cNvSpPr/>
          <p:nvPr/>
        </p:nvSpPr>
        <p:spPr>
          <a:xfrm>
            <a:off x="4191000" y="6756400"/>
            <a:ext cx="6350000" cy="762000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 Semibold" panose="020B0702040204020203" pitchFamily="34" charset="0"/>
              </a:rPr>
              <a:t>Operator Approves the Fix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BA38AC-A4DE-BEC4-954D-1DEE574BBCEF}"/>
              </a:ext>
            </a:extLst>
          </p:cNvPr>
          <p:cNvSpPr txBox="1"/>
          <p:nvPr/>
        </p:nvSpPr>
        <p:spPr>
          <a:xfrm>
            <a:off x="10845800" y="68707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475569"/>
                </a:solidFill>
                <a:latin typeface="Segoe UI" panose="020B0502040204020203" pitchFamily="34" charset="0"/>
              </a:rPr>
              <a:t>Streamlit UI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27807-6AD8-3A4D-A5EA-708830970002}"/>
              </a:ext>
            </a:extLst>
          </p:cNvPr>
          <p:cNvCxnSpPr/>
          <p:nvPr/>
        </p:nvCxnSpPr>
        <p:spPr>
          <a:xfrm>
            <a:off x="7366000" y="6375400"/>
            <a:ext cx="0" cy="381000"/>
          </a:xfrm>
          <a:prstGeom prst="line">
            <a:avLst/>
          </a:prstGeom>
          <a:ln w="28575">
            <a:solidFill>
              <a:srgbClr val="1E4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2FC0FCD-DE11-67EA-8EC6-B2205EE2F72B}"/>
              </a:ext>
            </a:extLst>
          </p:cNvPr>
          <p:cNvSpPr/>
          <p:nvPr/>
        </p:nvSpPr>
        <p:spPr>
          <a:xfrm>
            <a:off x="4191000" y="7899400"/>
            <a:ext cx="6350000" cy="762000"/>
          </a:xfrm>
          <a:prstGeom prst="roundRect">
            <a:avLst>
              <a:gd name="adj" fmla="val 18000"/>
            </a:avLst>
          </a:prstGeom>
          <a:solidFill>
            <a:srgbClr val="DB2777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 Semibold" panose="020B0702040204020203" pitchFamily="34" charset="0"/>
              </a:rPr>
              <a:t>Remediate: Validate, Execute, Verify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10D1BC-1F23-754B-8D76-AB94FB6EE8D1}"/>
              </a:ext>
            </a:extLst>
          </p:cNvPr>
          <p:cNvSpPr txBox="1"/>
          <p:nvPr/>
        </p:nvSpPr>
        <p:spPr>
          <a:xfrm>
            <a:off x="10845800" y="80137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475569"/>
                </a:solidFill>
                <a:latin typeface="Segoe UI" panose="020B0502040204020203" pitchFamily="34" charset="0"/>
              </a:rPr>
              <a:t>LangGraph (simulated execution)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AF9AA1-588D-FC96-111F-539CF086F815}"/>
              </a:ext>
            </a:extLst>
          </p:cNvPr>
          <p:cNvCxnSpPr/>
          <p:nvPr/>
        </p:nvCxnSpPr>
        <p:spPr>
          <a:xfrm>
            <a:off x="7366000" y="7518400"/>
            <a:ext cx="0" cy="381000"/>
          </a:xfrm>
          <a:prstGeom prst="line">
            <a:avLst/>
          </a:prstGeom>
          <a:ln w="28575">
            <a:solidFill>
              <a:srgbClr val="1E4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AFF6EEC-3460-537F-D8D9-AD24B58EE9FD}"/>
              </a:ext>
            </a:extLst>
          </p:cNvPr>
          <p:cNvSpPr/>
          <p:nvPr/>
        </p:nvSpPr>
        <p:spPr>
          <a:xfrm>
            <a:off x="4191000" y="9042400"/>
            <a:ext cx="6350000" cy="76200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 Semibold" panose="020B0702040204020203" pitchFamily="34" charset="0"/>
              </a:rPr>
              <a:t>Resolve ServiceNow Ticket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C97E3C-EE17-618F-77D5-EF85FA69C490}"/>
              </a:ext>
            </a:extLst>
          </p:cNvPr>
          <p:cNvSpPr txBox="1"/>
          <p:nvPr/>
        </p:nvSpPr>
        <p:spPr>
          <a:xfrm>
            <a:off x="10845800" y="91567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475569"/>
                </a:solidFill>
                <a:latin typeface="Segoe UI" panose="020B0502040204020203" pitchFamily="34" charset="0"/>
              </a:rPr>
              <a:t>Marked Resolved in ServiceNow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FBE4E29-561D-09C2-25C2-7B807EC34434}"/>
              </a:ext>
            </a:extLst>
          </p:cNvPr>
          <p:cNvCxnSpPr/>
          <p:nvPr/>
        </p:nvCxnSpPr>
        <p:spPr>
          <a:xfrm>
            <a:off x="7366000" y="8661400"/>
            <a:ext cx="0" cy="381000"/>
          </a:xfrm>
          <a:prstGeom prst="line">
            <a:avLst/>
          </a:prstGeom>
          <a:ln w="28575">
            <a:solidFill>
              <a:srgbClr val="1E4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2122C57-E83D-4462-7F71-A9F92E1789D7}"/>
              </a:ext>
            </a:extLst>
          </p:cNvPr>
          <p:cNvSpPr/>
          <p:nvPr/>
        </p:nvSpPr>
        <p:spPr>
          <a:xfrm>
            <a:off x="4191000" y="10185400"/>
            <a:ext cx="6350000" cy="762000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 Semibold" panose="020B0702040204020203" pitchFamily="34" charset="0"/>
              </a:rPr>
              <a:t>Learn: Capture New Precedent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D88F41-B9F7-0119-C4DA-3ABABCF8FE87}"/>
              </a:ext>
            </a:extLst>
          </p:cNvPr>
          <p:cNvSpPr txBox="1"/>
          <p:nvPr/>
        </p:nvSpPr>
        <p:spPr>
          <a:xfrm>
            <a:off x="10845800" y="102997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475569"/>
                </a:solidFill>
                <a:latin typeface="Segoe UI" panose="020B0502040204020203" pitchFamily="34" charset="0"/>
              </a:rPr>
              <a:t>Saved to PostgreSQL + FAISS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EEFE081-6B50-AE77-EFFD-AD17546C5B80}"/>
              </a:ext>
            </a:extLst>
          </p:cNvPr>
          <p:cNvCxnSpPr/>
          <p:nvPr/>
        </p:nvCxnSpPr>
        <p:spPr>
          <a:xfrm>
            <a:off x="7366000" y="9804400"/>
            <a:ext cx="0" cy="381000"/>
          </a:xfrm>
          <a:prstGeom prst="line">
            <a:avLst/>
          </a:prstGeom>
          <a:ln w="28575">
            <a:solidFill>
              <a:srgbClr val="1E4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C0BE8B0-B74B-6460-5F26-F33CAA099320}"/>
              </a:ext>
            </a:extLst>
          </p:cNvPr>
          <p:cNvCxnSpPr/>
          <p:nvPr/>
        </p:nvCxnSpPr>
        <p:spPr>
          <a:xfrm flipH="1">
            <a:off x="2540000" y="10566400"/>
            <a:ext cx="1651000" cy="0"/>
          </a:xfrm>
          <a:prstGeom prst="line">
            <a:avLst/>
          </a:prstGeom>
          <a:ln w="381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51D1E0C-C954-8B1B-B89B-961D993C439D}"/>
              </a:ext>
            </a:extLst>
          </p:cNvPr>
          <p:cNvCxnSpPr/>
          <p:nvPr/>
        </p:nvCxnSpPr>
        <p:spPr>
          <a:xfrm flipV="1">
            <a:off x="2540000" y="4851400"/>
            <a:ext cx="0" cy="5715000"/>
          </a:xfrm>
          <a:prstGeom prst="line">
            <a:avLst/>
          </a:prstGeom>
          <a:ln w="381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223DAA-CE80-3AD5-2221-931B14B2699F}"/>
              </a:ext>
            </a:extLst>
          </p:cNvPr>
          <p:cNvCxnSpPr/>
          <p:nvPr/>
        </p:nvCxnSpPr>
        <p:spPr>
          <a:xfrm>
            <a:off x="2540000" y="4851400"/>
            <a:ext cx="1651000" cy="0"/>
          </a:xfrm>
          <a:prstGeom prst="line">
            <a:avLst/>
          </a:prstGeom>
          <a:ln w="38100">
            <a:solidFill>
              <a:srgbClr val="0D9488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F3D042E-A82F-9482-D283-D1DD771FF6E1}"/>
              </a:ext>
            </a:extLst>
          </p:cNvPr>
          <p:cNvSpPr txBox="1"/>
          <p:nvPr/>
        </p:nvSpPr>
        <p:spPr>
          <a:xfrm>
            <a:off x="558800" y="7226300"/>
            <a:ext cx="1905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 b="1" dirty="0">
                <a:solidFill>
                  <a:srgbClr val="0D9488"/>
                </a:solidFill>
                <a:latin typeface="Segoe UI Semibold" panose="020B0702040204020203" pitchFamily="34" charset="0"/>
              </a:rPr>
              <a:t>Learning Loop</a:t>
            </a:r>
          </a:p>
          <a:p>
            <a:pPr algn="ctr"/>
            <a:r>
              <a:rPr lang="en-US" sz="1600" b="1" dirty="0">
                <a:solidFill>
                  <a:srgbClr val="0D9488"/>
                </a:solidFill>
                <a:latin typeface="Segoe UI Semibold" panose="020B0702040204020203" pitchFamily="34" charset="0"/>
              </a:rPr>
              <a:t>the new precedent feeds the next diagnosis</a:t>
            </a:r>
            <a:endParaRPr lang="en-IN" sz="1600" b="1" dirty="0">
              <a:solidFill>
                <a:srgbClr val="0D9488"/>
              </a:solidFill>
              <a:latin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869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Rana, Dewasheesh (Cognizant)</dc:creator>
  <cp:lastModifiedBy>Rana, Dewasheesh (Cognizant)</cp:lastModifiedBy>
  <cp:revision>2</cp:revision>
  <dcterms:created xsi:type="dcterms:W3CDTF">2026-06-25T08:29:35Z</dcterms:created>
  <dcterms:modified xsi:type="dcterms:W3CDTF">2026-06-25T08:32:23Z</dcterms:modified>
</cp:coreProperties>
</file>